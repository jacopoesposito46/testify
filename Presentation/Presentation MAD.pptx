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7CBA407B-2DAA-4074-B772-63C8E5E567C8}"/>
              </a:ext>
            </a:extLst>
          </p:cNvPr>
          <p:cNvSpPr>
            <a:spLocks noGrp="1"/>
          </p:cNvSpPr>
          <p:nvPr/>
        </p:nvSpPr>
        <p:spPr>
          <a:xfrm>
            <a:off x="1047750" y="1226077"/>
            <a:ext cx="704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36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Tastify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964E6110-8D29-49FA-8BE5-C1CA12E599F3}"/>
              </a:ext>
            </a:extLst>
          </p:cNvPr>
          <p:cNvSpPr>
            <a:spLocks noGrp="1"/>
          </p:cNvSpPr>
          <p:nvPr/>
        </p:nvSpPr>
        <p:spPr>
          <a:xfrm>
            <a:off x="904875" y="2088090"/>
            <a:ext cx="733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 i="1">
                <a:solidFill>
                  <a:srgbClr val="E27B28"/>
                </a:solidFill>
                <a:latin typeface="Aptos"/>
                <a:ea typeface="Aptos"/>
                <a:cs typeface="Aptos"/>
              </a:defRPr>
            </a:pPr>
            <a:r>
              <a:rPr lang="en-US" sz="1425" b="0" i="1" noProof="0" dirty="0">
                <a:solidFill>
                  <a:srgbClr val="E27B28"/>
                </a:solidFill>
                <a:latin typeface="Aptos"/>
                <a:ea typeface="Aptos"/>
                <a:cs typeface="Aptos"/>
              </a:rPr>
              <a:t>Transforming cooking into a personalized, social, and intelligent experience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E81D319-6488-42C0-9EF6-8B8EF9F3EC5B}"/>
              </a:ext>
            </a:extLst>
          </p:cNvPr>
          <p:cNvSpPr>
            <a:spLocks noGrp="1"/>
          </p:cNvSpPr>
          <p:nvPr/>
        </p:nvSpPr>
        <p:spPr>
          <a:xfrm>
            <a:off x="2333625" y="2657208"/>
            <a:ext cx="447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63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Project Presentation</a:t>
            </a:r>
          </a:p>
          <a:p>
            <a:pPr algn="ctr">
              <a:defRPr sz="1163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Mobile Application Development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2C896B5-5CC2-469E-8CDE-2EFA2EEEE429}"/>
              </a:ext>
            </a:extLst>
          </p:cNvPr>
          <p:cNvSpPr>
            <a:spLocks noGrp="1"/>
          </p:cNvSpPr>
          <p:nvPr/>
        </p:nvSpPr>
        <p:spPr>
          <a:xfrm>
            <a:off x="3619500" y="3502958"/>
            <a:ext cx="1905000" cy="28575"/>
          </a:xfrm>
          <a:prstGeom prst="rect">
            <a:avLst/>
          </a:prstGeom>
          <a:solidFill>
            <a:srgbClr val="E27B28"/>
          </a:solidFill>
          <a:ln w="0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FBE313E-8918-4989-8624-19861D82A429}"/>
              </a:ext>
            </a:extLst>
          </p:cNvPr>
          <p:cNvSpPr>
            <a:spLocks noGrp="1"/>
          </p:cNvSpPr>
          <p:nvPr/>
        </p:nvSpPr>
        <p:spPr>
          <a:xfrm>
            <a:off x="2000250" y="3531533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en-US" sz="938" b="0" i="0" noProof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Kotlin  |  Jetpack Compose  |  Firebase  |  </a:t>
            </a:r>
            <a:r>
              <a:rPr lang="en-US" sz="938" b="0" i="0" noProof="0" dirty="0" err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Supabase</a:t>
            </a:r>
            <a:r>
              <a:rPr lang="en-US" sz="938" b="0" i="0" noProof="0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  |  Gemini</a:t>
            </a:r>
          </a:p>
        </p:txBody>
      </p:sp>
    </p:spTree>
    <p:extLst>
      <p:ext uri="{BB962C8B-B14F-4D97-AF65-F5344CB8AC3E}">
        <p14:creationId xmlns:p14="http://schemas.microsoft.com/office/powerpoint/2010/main" val="825119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D90327EC-08DA-4FB9-8C10-D56C75D8019B}"/>
              </a:ext>
            </a:extLst>
          </p:cNvPr>
          <p:cNvSpPr>
            <a:spLocks noGrp="1"/>
          </p:cNvSpPr>
          <p:nvPr/>
        </p:nvSpPr>
        <p:spPr>
          <a:xfrm>
            <a:off x="4229100" y="960398"/>
            <a:ext cx="685800" cy="28575"/>
          </a:xfrm>
          <a:prstGeom prst="rect">
            <a:avLst/>
          </a:prstGeom>
          <a:solidFill>
            <a:srgbClr val="E27B28"/>
          </a:solidFill>
          <a:ln w="0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891F2E01-192E-4F11-B490-873C5E5CB17B}"/>
              </a:ext>
            </a:extLst>
          </p:cNvPr>
          <p:cNvSpPr>
            <a:spLocks noGrp="1"/>
          </p:cNvSpPr>
          <p:nvPr/>
        </p:nvSpPr>
        <p:spPr>
          <a:xfrm>
            <a:off x="4229100" y="1055648"/>
            <a:ext cx="685800" cy="28575"/>
          </a:xfrm>
          <a:prstGeom prst="rect">
            <a:avLst/>
          </a:prstGeom>
          <a:solidFill>
            <a:srgbClr val="E27B28"/>
          </a:solidFill>
          <a:ln w="0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FCC7E3E4-BF63-48A0-8B2E-422B8AD3D724}"/>
              </a:ext>
            </a:extLst>
          </p:cNvPr>
          <p:cNvSpPr>
            <a:spLocks noGrp="1"/>
          </p:cNvSpPr>
          <p:nvPr/>
        </p:nvSpPr>
        <p:spPr>
          <a:xfrm>
            <a:off x="929966" y="1223729"/>
            <a:ext cx="733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27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Strategy &amp; Vision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D15D8C96-CBA0-43DA-B5B4-A9F9EFFADB8E}"/>
              </a:ext>
            </a:extLst>
          </p:cNvPr>
          <p:cNvSpPr>
            <a:spLocks noGrp="1"/>
          </p:cNvSpPr>
          <p:nvPr/>
        </p:nvSpPr>
        <p:spPr>
          <a:xfrm>
            <a:off x="1285875" y="1896636"/>
            <a:ext cx="657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Tastify turns a static recipe book into a mobile ecosystem for discovering, creating, importing, organizing, and personalizing recipes.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09880D1F-97C8-4FFF-B79A-798249CD9F44}"/>
              </a:ext>
            </a:extLst>
          </p:cNvPr>
          <p:cNvSpPr>
            <a:spLocks noGrp="1"/>
          </p:cNvSpPr>
          <p:nvPr/>
        </p:nvSpPr>
        <p:spPr>
          <a:xfrm>
            <a:off x="596591" y="2601020"/>
            <a:ext cx="1809750" cy="1978413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0D8C19A-20F7-4930-BB63-A8A6910269B6}"/>
              </a:ext>
            </a:extLst>
          </p:cNvPr>
          <p:cNvSpPr>
            <a:spLocks noGrp="1"/>
          </p:cNvSpPr>
          <p:nvPr/>
        </p:nvSpPr>
        <p:spPr>
          <a:xfrm>
            <a:off x="768041" y="2779904"/>
            <a:ext cx="514350" cy="315837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C988D2A-0AA0-4097-BC06-8B0067117F1F}"/>
              </a:ext>
            </a:extLst>
          </p:cNvPr>
          <p:cNvSpPr>
            <a:spLocks noGrp="1"/>
          </p:cNvSpPr>
          <p:nvPr/>
        </p:nvSpPr>
        <p:spPr>
          <a:xfrm>
            <a:off x="768041" y="2818005"/>
            <a:ext cx="514350" cy="20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DF55AC6-35B6-4778-9186-501BFAD5FBE1}"/>
              </a:ext>
            </a:extLst>
          </p:cNvPr>
          <p:cNvSpPr>
            <a:spLocks noGrp="1"/>
          </p:cNvSpPr>
          <p:nvPr/>
        </p:nvSpPr>
        <p:spPr>
          <a:xfrm>
            <a:off x="736909" y="3160904"/>
            <a:ext cx="1669432" cy="3383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4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4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Personalization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82B1BC67-7D9D-4E27-943B-BAF5E54B880C}"/>
              </a:ext>
            </a:extLst>
          </p:cNvPr>
          <p:cNvSpPr>
            <a:spLocks noGrp="1"/>
          </p:cNvSpPr>
          <p:nvPr/>
        </p:nvSpPr>
        <p:spPr>
          <a:xfrm>
            <a:off x="768041" y="3475229"/>
            <a:ext cx="1466850" cy="933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1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Strict filters for diet, cuisine, ingredients, calories, cost, servings, and difficulty.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35BCDE86-95E6-490F-9ADB-0452AB5ABF91}"/>
              </a:ext>
            </a:extLst>
          </p:cNvPr>
          <p:cNvSpPr>
            <a:spLocks noGrp="1"/>
          </p:cNvSpPr>
          <p:nvPr/>
        </p:nvSpPr>
        <p:spPr>
          <a:xfrm>
            <a:off x="2596841" y="2608454"/>
            <a:ext cx="1809750" cy="1970979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C0889997-D043-414C-9FA3-C509B2571C71}"/>
              </a:ext>
            </a:extLst>
          </p:cNvPr>
          <p:cNvSpPr>
            <a:spLocks noGrp="1"/>
          </p:cNvSpPr>
          <p:nvPr/>
        </p:nvSpPr>
        <p:spPr>
          <a:xfrm>
            <a:off x="2768291" y="2779904"/>
            <a:ext cx="514350" cy="315837"/>
          </a:xfrm>
          <a:prstGeom prst="roundRect">
            <a:avLst>
              <a:gd name="adj" fmla="val 50000"/>
            </a:avLst>
          </a:prstGeom>
          <a:solidFill>
            <a:srgbClr val="586A47"/>
          </a:solidFill>
          <a:ln w="9525">
            <a:solidFill>
              <a:srgbClr val="586A47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441D7C1-A298-44DD-91A1-A64FA6FF8B01}"/>
              </a:ext>
            </a:extLst>
          </p:cNvPr>
          <p:cNvSpPr>
            <a:spLocks noGrp="1"/>
          </p:cNvSpPr>
          <p:nvPr/>
        </p:nvSpPr>
        <p:spPr>
          <a:xfrm>
            <a:off x="2768291" y="2818005"/>
            <a:ext cx="514350" cy="20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9D870439-E470-4CF7-9556-6D81178FDBC3}"/>
              </a:ext>
            </a:extLst>
          </p:cNvPr>
          <p:cNvSpPr>
            <a:spLocks noGrp="1"/>
          </p:cNvSpPr>
          <p:nvPr/>
        </p:nvSpPr>
        <p:spPr>
          <a:xfrm>
            <a:off x="2768291" y="3160904"/>
            <a:ext cx="1466850" cy="3383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4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4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Community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17B594F4-8149-45CC-B63B-97D0FC0D888F}"/>
              </a:ext>
            </a:extLst>
          </p:cNvPr>
          <p:cNvSpPr>
            <a:spLocks noGrp="1"/>
          </p:cNvSpPr>
          <p:nvPr/>
        </p:nvSpPr>
        <p:spPr>
          <a:xfrm>
            <a:off x="2768291" y="3475229"/>
            <a:ext cx="1466850" cy="933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1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Comments, reviews, ratings, follows, and creator feedback loops.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D045BEC3-AEC1-4D7E-BD36-5209826FED72}"/>
              </a:ext>
            </a:extLst>
          </p:cNvPr>
          <p:cNvSpPr>
            <a:spLocks noGrp="1"/>
          </p:cNvSpPr>
          <p:nvPr/>
        </p:nvSpPr>
        <p:spPr>
          <a:xfrm>
            <a:off x="4597091" y="2608455"/>
            <a:ext cx="1809750" cy="1970978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959757AD-9046-44A5-B3B0-500D8CD0EAE4}"/>
              </a:ext>
            </a:extLst>
          </p:cNvPr>
          <p:cNvSpPr>
            <a:spLocks noGrp="1"/>
          </p:cNvSpPr>
          <p:nvPr/>
        </p:nvSpPr>
        <p:spPr>
          <a:xfrm>
            <a:off x="4768541" y="2779904"/>
            <a:ext cx="514350" cy="315837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FFF5AD5D-C58E-4138-AC99-31152E31A6D0}"/>
              </a:ext>
            </a:extLst>
          </p:cNvPr>
          <p:cNvSpPr>
            <a:spLocks noGrp="1"/>
          </p:cNvSpPr>
          <p:nvPr/>
        </p:nvSpPr>
        <p:spPr>
          <a:xfrm>
            <a:off x="4768541" y="2818005"/>
            <a:ext cx="514350" cy="20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77C4F9CE-EC98-4280-BB37-FF77BCA6FDAB}"/>
              </a:ext>
            </a:extLst>
          </p:cNvPr>
          <p:cNvSpPr>
            <a:spLocks noGrp="1"/>
          </p:cNvSpPr>
          <p:nvPr/>
        </p:nvSpPr>
        <p:spPr>
          <a:xfrm>
            <a:off x="4768541" y="3160904"/>
            <a:ext cx="1466850" cy="3383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4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4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AI Assistance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ABBC1B87-0594-4AA8-BA84-185304ADAE0E}"/>
              </a:ext>
            </a:extLst>
          </p:cNvPr>
          <p:cNvSpPr>
            <a:spLocks noGrp="1"/>
          </p:cNvSpPr>
          <p:nvPr/>
        </p:nvSpPr>
        <p:spPr>
          <a:xfrm>
            <a:off x="4768541" y="3475229"/>
            <a:ext cx="1466850" cy="933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1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Gemini-powered chatbot and recipe extraction from social captions or URLs.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0C4B833A-E674-43E4-AC09-DA7065DFE5E8}"/>
              </a:ext>
            </a:extLst>
          </p:cNvPr>
          <p:cNvSpPr>
            <a:spLocks noGrp="1"/>
          </p:cNvSpPr>
          <p:nvPr/>
        </p:nvSpPr>
        <p:spPr>
          <a:xfrm>
            <a:off x="6597341" y="2608454"/>
            <a:ext cx="1809750" cy="1970978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F2140697-1033-4C30-BDCE-31A5A5C033A9}"/>
              </a:ext>
            </a:extLst>
          </p:cNvPr>
          <p:cNvSpPr>
            <a:spLocks noGrp="1"/>
          </p:cNvSpPr>
          <p:nvPr/>
        </p:nvSpPr>
        <p:spPr>
          <a:xfrm>
            <a:off x="6768791" y="2779904"/>
            <a:ext cx="514350" cy="315837"/>
          </a:xfrm>
          <a:prstGeom prst="roundRect">
            <a:avLst>
              <a:gd name="adj" fmla="val 50000"/>
            </a:avLst>
          </a:prstGeom>
          <a:solidFill>
            <a:srgbClr val="586A47"/>
          </a:solidFill>
          <a:ln w="9525">
            <a:solidFill>
              <a:srgbClr val="586A47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799D1E6E-23FE-4847-8773-5163544B87A8}"/>
              </a:ext>
            </a:extLst>
          </p:cNvPr>
          <p:cNvSpPr>
            <a:spLocks noGrp="1"/>
          </p:cNvSpPr>
          <p:nvPr/>
        </p:nvSpPr>
        <p:spPr>
          <a:xfrm>
            <a:off x="6768791" y="2818005"/>
            <a:ext cx="514350" cy="2030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7D32105A-35E8-4A33-8983-DDA9454D821C}"/>
              </a:ext>
            </a:extLst>
          </p:cNvPr>
          <p:cNvSpPr>
            <a:spLocks noGrp="1"/>
          </p:cNvSpPr>
          <p:nvPr/>
        </p:nvSpPr>
        <p:spPr>
          <a:xfrm>
            <a:off x="6768791" y="3160904"/>
            <a:ext cx="1466850" cy="3383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4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4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Engagement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4227BA40-27D0-4645-BD6A-9F874E3B722D}"/>
              </a:ext>
            </a:extLst>
          </p:cNvPr>
          <p:cNvSpPr>
            <a:spLocks noGrp="1"/>
          </p:cNvSpPr>
          <p:nvPr/>
        </p:nvSpPr>
        <p:spPr>
          <a:xfrm>
            <a:off x="6768791" y="3475229"/>
            <a:ext cx="1466850" cy="933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1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XP, profile frames, notifications, weekly planning, and analytics.</a:t>
            </a:r>
          </a:p>
        </p:txBody>
      </p:sp>
    </p:spTree>
    <p:extLst>
      <p:ext uri="{BB962C8B-B14F-4D97-AF65-F5344CB8AC3E}">
        <p14:creationId xmlns:p14="http://schemas.microsoft.com/office/powerpoint/2010/main" val="653279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tangolo 23">
            <a:extLst>
              <a:ext uri="{FF2B5EF4-FFF2-40B4-BE49-F238E27FC236}">
                <a16:creationId xmlns:a16="http://schemas.microsoft.com/office/drawing/2014/main" id="{9D349CC7-2A0E-40F8-849A-8F4454902B48}"/>
              </a:ext>
            </a:extLst>
          </p:cNvPr>
          <p:cNvSpPr>
            <a:spLocks noGrp="1"/>
          </p:cNvSpPr>
          <p:nvPr/>
        </p:nvSpPr>
        <p:spPr>
          <a:xfrm>
            <a:off x="428625" y="438150"/>
            <a:ext cx="38100" cy="400050"/>
          </a:xfrm>
          <a:prstGeom prst="rect">
            <a:avLst/>
          </a:prstGeom>
          <a:solidFill>
            <a:srgbClr val="E27B28"/>
          </a:solidFill>
          <a:ln w="0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DCCCAB61-89A3-4C39-88CB-04F83604CE38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00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255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Core Idea &amp; Vision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7D1B662-F8E6-4965-9C51-571A55579342}"/>
              </a:ext>
            </a:extLst>
          </p:cNvPr>
          <p:cNvSpPr>
            <a:spLocks noGrp="1"/>
          </p:cNvSpPr>
          <p:nvPr/>
        </p:nvSpPr>
        <p:spPr>
          <a:xfrm>
            <a:off x="571500" y="1028700"/>
            <a:ext cx="781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4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Tastify helps users find the right recipe for real constraints, not just browse a generic catalog.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E6C4599B-08E2-4A21-9CC1-1B72F0D41061}"/>
              </a:ext>
            </a:extLst>
          </p:cNvPr>
          <p:cNvSpPr>
            <a:spLocks noGrp="1"/>
          </p:cNvSpPr>
          <p:nvPr/>
        </p:nvSpPr>
        <p:spPr>
          <a:xfrm>
            <a:off x="495300" y="1676400"/>
            <a:ext cx="3905250" cy="127635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63985DAD-F81D-44EB-9F82-9CE0DD3EADED}"/>
              </a:ext>
            </a:extLst>
          </p:cNvPr>
          <p:cNvSpPr>
            <a:spLocks noGrp="1"/>
          </p:cNvSpPr>
          <p:nvPr/>
        </p:nvSpPr>
        <p:spPr>
          <a:xfrm>
            <a:off x="666750" y="1847850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586A47"/>
          </a:solidFill>
          <a:ln w="9525">
            <a:solidFill>
              <a:srgbClr val="586A47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71BF68FA-D7DF-4F61-99BE-054DDD064307}"/>
              </a:ext>
            </a:extLst>
          </p:cNvPr>
          <p:cNvSpPr>
            <a:spLocks noGrp="1"/>
          </p:cNvSpPr>
          <p:nvPr/>
        </p:nvSpPr>
        <p:spPr>
          <a:xfrm>
            <a:off x="666750" y="18859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97722A7-8C15-4CCA-9D0E-38E4E216CD88}"/>
              </a:ext>
            </a:extLst>
          </p:cNvPr>
          <p:cNvSpPr>
            <a:spLocks noGrp="1"/>
          </p:cNvSpPr>
          <p:nvPr/>
        </p:nvSpPr>
        <p:spPr>
          <a:xfrm>
            <a:off x="1327785" y="1838325"/>
            <a:ext cx="292608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4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Advanced discovery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8F8B2A0-F033-432C-8587-C298E62B9DA4}"/>
              </a:ext>
            </a:extLst>
          </p:cNvPr>
          <p:cNvSpPr>
            <a:spLocks noGrp="1"/>
          </p:cNvSpPr>
          <p:nvPr/>
        </p:nvSpPr>
        <p:spPr>
          <a:xfrm>
            <a:off x="666750" y="2238376"/>
            <a:ext cx="3562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9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Search and filter by difficulty, servings, cost, calories, cuisine type, dietary restrictions, and included ingredients.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FE7B5247-6E44-40EA-AAA0-CDB56767C89B}"/>
              </a:ext>
            </a:extLst>
          </p:cNvPr>
          <p:cNvSpPr>
            <a:spLocks noGrp="1"/>
          </p:cNvSpPr>
          <p:nvPr/>
        </p:nvSpPr>
        <p:spPr>
          <a:xfrm>
            <a:off x="4743450" y="1676400"/>
            <a:ext cx="3905250" cy="127635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89B41F66-CBF4-4B85-ADBC-DE572D056DC3}"/>
              </a:ext>
            </a:extLst>
          </p:cNvPr>
          <p:cNvSpPr>
            <a:spLocks noGrp="1"/>
          </p:cNvSpPr>
          <p:nvPr/>
        </p:nvSpPr>
        <p:spPr>
          <a:xfrm>
            <a:off x="4914900" y="1847850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595CD838-D25E-4750-802B-836124AB5C6A}"/>
              </a:ext>
            </a:extLst>
          </p:cNvPr>
          <p:cNvSpPr>
            <a:spLocks noGrp="1"/>
          </p:cNvSpPr>
          <p:nvPr/>
        </p:nvSpPr>
        <p:spPr>
          <a:xfrm>
            <a:off x="4914900" y="18859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F3A61C8-E547-476C-88BB-43E73BE40A46}"/>
              </a:ext>
            </a:extLst>
          </p:cNvPr>
          <p:cNvSpPr>
            <a:spLocks noGrp="1"/>
          </p:cNvSpPr>
          <p:nvPr/>
        </p:nvSpPr>
        <p:spPr>
          <a:xfrm>
            <a:off x="5772150" y="1840231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4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Dynamic portions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15CBAD1-C0E9-495A-A45D-FC72168D2DD6}"/>
              </a:ext>
            </a:extLst>
          </p:cNvPr>
          <p:cNvSpPr>
            <a:spLocks noGrp="1"/>
          </p:cNvSpPr>
          <p:nvPr/>
        </p:nvSpPr>
        <p:spPr>
          <a:xfrm>
            <a:off x="4914900" y="2238376"/>
            <a:ext cx="3562350" cy="6324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9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Servings can be adjusted from the recipe detail page, recalculating ingredient quantities and calories automatically.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517DEA2F-A9DB-493D-9552-FF652466350F}"/>
              </a:ext>
            </a:extLst>
          </p:cNvPr>
          <p:cNvSpPr>
            <a:spLocks noGrp="1"/>
          </p:cNvSpPr>
          <p:nvPr/>
        </p:nvSpPr>
        <p:spPr>
          <a:xfrm>
            <a:off x="495300" y="3105150"/>
            <a:ext cx="3905250" cy="127635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80AFEA86-0333-4367-9D73-DAD9FC1E4309}"/>
              </a:ext>
            </a:extLst>
          </p:cNvPr>
          <p:cNvSpPr>
            <a:spLocks noGrp="1"/>
          </p:cNvSpPr>
          <p:nvPr/>
        </p:nvSpPr>
        <p:spPr>
          <a:xfrm>
            <a:off x="666750" y="3276600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65442E7-601C-46CA-AF1E-8638730BBC26}"/>
              </a:ext>
            </a:extLst>
          </p:cNvPr>
          <p:cNvSpPr>
            <a:spLocks noGrp="1"/>
          </p:cNvSpPr>
          <p:nvPr/>
        </p:nvSpPr>
        <p:spPr>
          <a:xfrm>
            <a:off x="666750" y="331470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FA902656-BA8E-4329-B365-3DCFF291FEC9}"/>
              </a:ext>
            </a:extLst>
          </p:cNvPr>
          <p:cNvSpPr>
            <a:spLocks noGrp="1"/>
          </p:cNvSpPr>
          <p:nvPr/>
        </p:nvSpPr>
        <p:spPr>
          <a:xfrm>
            <a:off x="1327785" y="3267075"/>
            <a:ext cx="290131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4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Recipe lifecycle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FD772492-294D-4941-9B86-E82A692AF081}"/>
              </a:ext>
            </a:extLst>
          </p:cNvPr>
          <p:cNvSpPr>
            <a:spLocks noGrp="1"/>
          </p:cNvSpPr>
          <p:nvPr/>
        </p:nvSpPr>
        <p:spPr>
          <a:xfrm>
            <a:off x="666750" y="3676650"/>
            <a:ext cx="3562350" cy="6153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9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Users can create, edit, copy, publish, unpublish, save to custom courses, mark as cooked, and export recipes as PDF.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E090F944-0829-4E85-9E26-61378034EFF0}"/>
              </a:ext>
            </a:extLst>
          </p:cNvPr>
          <p:cNvSpPr>
            <a:spLocks noGrp="1"/>
          </p:cNvSpPr>
          <p:nvPr/>
        </p:nvSpPr>
        <p:spPr>
          <a:xfrm>
            <a:off x="4743450" y="3105150"/>
            <a:ext cx="3905250" cy="127635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30BC09C2-A0C0-436E-9FF9-E71409EE5D1C}"/>
              </a:ext>
            </a:extLst>
          </p:cNvPr>
          <p:cNvSpPr>
            <a:spLocks noGrp="1"/>
          </p:cNvSpPr>
          <p:nvPr/>
        </p:nvSpPr>
        <p:spPr>
          <a:xfrm>
            <a:off x="4914900" y="3276600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586A47"/>
          </a:solidFill>
          <a:ln w="9525">
            <a:solidFill>
              <a:srgbClr val="586A47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25CB231D-4358-48EF-B7A1-5D0D3B7AB0F5}"/>
              </a:ext>
            </a:extLst>
          </p:cNvPr>
          <p:cNvSpPr>
            <a:spLocks noGrp="1"/>
          </p:cNvSpPr>
          <p:nvPr/>
        </p:nvSpPr>
        <p:spPr>
          <a:xfrm>
            <a:off x="4914900" y="331470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DDADAED0-0E39-4EA8-B0E2-0AE024FA6AB9}"/>
              </a:ext>
            </a:extLst>
          </p:cNvPr>
          <p:cNvSpPr>
            <a:spLocks noGrp="1"/>
          </p:cNvSpPr>
          <p:nvPr/>
        </p:nvSpPr>
        <p:spPr>
          <a:xfrm>
            <a:off x="5772150" y="3267075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275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AI connected to app data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854C014D-E0DB-4A0F-AAD5-64089C7608AF}"/>
              </a:ext>
            </a:extLst>
          </p:cNvPr>
          <p:cNvSpPr>
            <a:spLocks noGrp="1"/>
          </p:cNvSpPr>
          <p:nvPr/>
        </p:nvSpPr>
        <p:spPr>
          <a:xfrm>
            <a:off x="4914900" y="3676650"/>
            <a:ext cx="3562350" cy="6229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9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assistant searches real app recipes through function calling, then links matching recipes directly in chat.</a:t>
            </a:r>
          </a:p>
        </p:txBody>
      </p:sp>
    </p:spTree>
    <p:extLst>
      <p:ext uri="{BB962C8B-B14F-4D97-AF65-F5344CB8AC3E}">
        <p14:creationId xmlns:p14="http://schemas.microsoft.com/office/powerpoint/2010/main" val="1382378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>
            <a:extLst>
              <a:ext uri="{FF2B5EF4-FFF2-40B4-BE49-F238E27FC236}">
                <a16:creationId xmlns:a16="http://schemas.microsoft.com/office/drawing/2014/main" id="{8AA80EDD-4C89-4A15-8B70-4FF8955B760D}"/>
              </a:ext>
            </a:extLst>
          </p:cNvPr>
          <p:cNvSpPr>
            <a:spLocks noGrp="1"/>
          </p:cNvSpPr>
          <p:nvPr/>
        </p:nvSpPr>
        <p:spPr>
          <a:xfrm>
            <a:off x="428625" y="438150"/>
            <a:ext cx="38100" cy="400050"/>
          </a:xfrm>
          <a:prstGeom prst="rect">
            <a:avLst/>
          </a:prstGeom>
          <a:solidFill>
            <a:srgbClr val="E27B28"/>
          </a:solidFill>
          <a:ln w="0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21B9185-5D4A-4840-B302-DFEA28BD64C1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00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255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Main Targets: User Personas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76590076-69E3-4F10-BBFB-8AE9DCA6D2A1}"/>
              </a:ext>
            </a:extLst>
          </p:cNvPr>
          <p:cNvSpPr>
            <a:spLocks noGrp="1"/>
          </p:cNvSpPr>
          <p:nvPr/>
        </p:nvSpPr>
        <p:spPr>
          <a:xfrm>
            <a:off x="428625" y="1832508"/>
            <a:ext cx="2667000" cy="1958898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E5A38238-649A-4D80-BBFB-3BB94F8EF062}"/>
              </a:ext>
            </a:extLst>
          </p:cNvPr>
          <p:cNvSpPr>
            <a:spLocks noGrp="1"/>
          </p:cNvSpPr>
          <p:nvPr/>
        </p:nvSpPr>
        <p:spPr>
          <a:xfrm>
            <a:off x="600075" y="2003958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C7DA54D-553A-4F08-AD34-3E77CBCCA9C9}"/>
              </a:ext>
            </a:extLst>
          </p:cNvPr>
          <p:cNvSpPr>
            <a:spLocks noGrp="1"/>
          </p:cNvSpPr>
          <p:nvPr/>
        </p:nvSpPr>
        <p:spPr>
          <a:xfrm>
            <a:off x="600075" y="2042058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7AD15AE-0D44-4005-9E86-6B463A90D790}"/>
              </a:ext>
            </a:extLst>
          </p:cNvPr>
          <p:cNvSpPr>
            <a:spLocks noGrp="1"/>
          </p:cNvSpPr>
          <p:nvPr/>
        </p:nvSpPr>
        <p:spPr>
          <a:xfrm>
            <a:off x="600075" y="2384958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4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Parents &amp; Planners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9641323-50A5-4DC1-8416-0F1F81FE91BC}"/>
              </a:ext>
            </a:extLst>
          </p:cNvPr>
          <p:cNvSpPr>
            <a:spLocks noGrp="1"/>
          </p:cNvSpPr>
          <p:nvPr/>
        </p:nvSpPr>
        <p:spPr>
          <a:xfrm>
            <a:off x="600075" y="2699283"/>
            <a:ext cx="2324100" cy="9211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1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Organize weekly meals, balance calories by meal slot, and reuse saved or favorite recipes to reduce planning time.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0F32E641-4C40-4FA5-B79C-C39495CF135A}"/>
              </a:ext>
            </a:extLst>
          </p:cNvPr>
          <p:cNvSpPr>
            <a:spLocks noGrp="1"/>
          </p:cNvSpPr>
          <p:nvPr/>
        </p:nvSpPr>
        <p:spPr>
          <a:xfrm>
            <a:off x="3238500" y="1832508"/>
            <a:ext cx="2667000" cy="1958898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F0F95F8B-A1DB-461C-97D8-98ACE75305FD}"/>
              </a:ext>
            </a:extLst>
          </p:cNvPr>
          <p:cNvSpPr>
            <a:spLocks noGrp="1"/>
          </p:cNvSpPr>
          <p:nvPr/>
        </p:nvSpPr>
        <p:spPr>
          <a:xfrm>
            <a:off x="3409950" y="2003958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586A47"/>
          </a:solidFill>
          <a:ln w="9525">
            <a:solidFill>
              <a:srgbClr val="586A47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E1EE4CE-E43E-4686-B22D-360C5677B067}"/>
              </a:ext>
            </a:extLst>
          </p:cNvPr>
          <p:cNvSpPr>
            <a:spLocks noGrp="1"/>
          </p:cNvSpPr>
          <p:nvPr/>
        </p:nvSpPr>
        <p:spPr>
          <a:xfrm>
            <a:off x="3409950" y="2042058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6E3FC74-1DDD-4CDB-B896-4216D8F19F64}"/>
              </a:ext>
            </a:extLst>
          </p:cNvPr>
          <p:cNvSpPr>
            <a:spLocks noGrp="1"/>
          </p:cNvSpPr>
          <p:nvPr/>
        </p:nvSpPr>
        <p:spPr>
          <a:xfrm>
            <a:off x="3409950" y="2384958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4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Creators &amp; Chefs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85A6580-CA4E-4FF9-A942-CC038716C039}"/>
              </a:ext>
            </a:extLst>
          </p:cNvPr>
          <p:cNvSpPr>
            <a:spLocks noGrp="1"/>
          </p:cNvSpPr>
          <p:nvPr/>
        </p:nvSpPr>
        <p:spPr>
          <a:xfrm>
            <a:off x="3409950" y="2699283"/>
            <a:ext cx="2324100" cy="9211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1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Create original recipes, import ideas from social media, manage personal collections, and track content performance.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9BD06C8A-024F-4CF7-B502-20A0C07427C7}"/>
              </a:ext>
            </a:extLst>
          </p:cNvPr>
          <p:cNvSpPr>
            <a:spLocks noGrp="1"/>
          </p:cNvSpPr>
          <p:nvPr/>
        </p:nvSpPr>
        <p:spPr>
          <a:xfrm>
            <a:off x="6048375" y="1832508"/>
            <a:ext cx="2667000" cy="1958898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F178243D-C21F-4A63-BB38-24D00D285D6E}"/>
              </a:ext>
            </a:extLst>
          </p:cNvPr>
          <p:cNvSpPr>
            <a:spLocks noGrp="1"/>
          </p:cNvSpPr>
          <p:nvPr/>
        </p:nvSpPr>
        <p:spPr>
          <a:xfrm>
            <a:off x="6219825" y="2003958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61692189-091F-4BD8-8228-047D5BD25723}"/>
              </a:ext>
            </a:extLst>
          </p:cNvPr>
          <p:cNvSpPr>
            <a:spLocks noGrp="1"/>
          </p:cNvSpPr>
          <p:nvPr/>
        </p:nvSpPr>
        <p:spPr>
          <a:xfrm>
            <a:off x="6219825" y="2042058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1FD3ADF1-0FC7-4543-868F-FBD8EC235E32}"/>
              </a:ext>
            </a:extLst>
          </p:cNvPr>
          <p:cNvSpPr>
            <a:spLocks noGrp="1"/>
          </p:cNvSpPr>
          <p:nvPr/>
        </p:nvSpPr>
        <p:spPr>
          <a:xfrm>
            <a:off x="6219825" y="2384958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4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Students &amp; Beginners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27D817F7-715C-4122-985F-7E613C093D1D}"/>
              </a:ext>
            </a:extLst>
          </p:cNvPr>
          <p:cNvSpPr>
            <a:spLocks noGrp="1"/>
          </p:cNvSpPr>
          <p:nvPr/>
        </p:nvSpPr>
        <p:spPr>
          <a:xfrm>
            <a:off x="6219825" y="2699283"/>
            <a:ext cx="2324100" cy="9211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1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 favorites, guided steps, PDF export, and the AI assistant to cook with </a:t>
            </a:r>
            <a:r>
              <a:rPr lang="en-US" sz="1100" noProof="0" dirty="0">
                <a:solidFill>
                  <a:srgbClr val="475569"/>
                </a:solidFill>
                <a:latin typeface="Aptos"/>
              </a:rPr>
              <a:t>less</a:t>
            </a:r>
            <a:r>
              <a:rPr lang="en-US" sz="11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friction and more confidence.</a:t>
            </a:r>
          </a:p>
        </p:txBody>
      </p:sp>
    </p:spTree>
    <p:extLst>
      <p:ext uri="{BB962C8B-B14F-4D97-AF65-F5344CB8AC3E}">
        <p14:creationId xmlns:p14="http://schemas.microsoft.com/office/powerpoint/2010/main" val="664936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ttangolo 44">
            <a:extLst>
              <a:ext uri="{FF2B5EF4-FFF2-40B4-BE49-F238E27FC236}">
                <a16:creationId xmlns:a16="http://schemas.microsoft.com/office/drawing/2014/main" id="{DBECB799-F4FD-4635-8592-A4EDED666C81}"/>
              </a:ext>
            </a:extLst>
          </p:cNvPr>
          <p:cNvSpPr>
            <a:spLocks noGrp="1"/>
          </p:cNvSpPr>
          <p:nvPr/>
        </p:nvSpPr>
        <p:spPr>
          <a:xfrm>
            <a:off x="428625" y="438150"/>
            <a:ext cx="38100" cy="400050"/>
          </a:xfrm>
          <a:prstGeom prst="rect">
            <a:avLst/>
          </a:prstGeom>
          <a:solidFill>
            <a:srgbClr val="E27B28"/>
          </a:solidFill>
          <a:ln w="0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E9681322-A3AC-4102-AD0B-FFEA1F440D12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00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255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Competitive Analysis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AD97CEE-12D0-4698-8B36-147FBD2FCC57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8077200" cy="6858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6DB84902-8583-44EB-B5A6-797AF98A7083}"/>
              </a:ext>
            </a:extLst>
          </p:cNvPr>
          <p:cNvSpPr>
            <a:spLocks noGrp="1"/>
          </p:cNvSpPr>
          <p:nvPr/>
        </p:nvSpPr>
        <p:spPr>
          <a:xfrm>
            <a:off x="609600" y="1365096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1400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</a:t>
            </a:r>
            <a:endParaRPr lang="en-US" sz="863" b="1" i="0" noProof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F49EF09A-4096-433D-86B1-FCEE632C3094}"/>
              </a:ext>
            </a:extLst>
          </p:cNvPr>
          <p:cNvSpPr>
            <a:spLocks noGrp="1"/>
          </p:cNvSpPr>
          <p:nvPr/>
        </p:nvSpPr>
        <p:spPr>
          <a:xfrm>
            <a:off x="2571750" y="1387398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1400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Giallo </a:t>
            </a:r>
            <a:r>
              <a:rPr lang="en-US" sz="1400" b="1" i="0" noProof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Zafferano</a:t>
            </a:r>
            <a:endParaRPr lang="en-US" sz="1400" b="1" i="0" noProof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06AA668-5034-43C4-86BC-E570376D9AD1}"/>
              </a:ext>
            </a:extLst>
          </p:cNvPr>
          <p:cNvSpPr>
            <a:spLocks noGrp="1"/>
          </p:cNvSpPr>
          <p:nvPr/>
        </p:nvSpPr>
        <p:spPr>
          <a:xfrm>
            <a:off x="4533900" y="126102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1400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Fatto in casa di Benedetta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2ED5AED-8563-41E6-A30C-73A37C01D567}"/>
              </a:ext>
            </a:extLst>
          </p:cNvPr>
          <p:cNvSpPr>
            <a:spLocks noGrp="1"/>
          </p:cNvSpPr>
          <p:nvPr/>
        </p:nvSpPr>
        <p:spPr>
          <a:xfrm>
            <a:off x="6496050" y="1379964"/>
            <a:ext cx="2038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1400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Tastify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53A7A71-DADA-4B6C-A934-69F876439C86}"/>
              </a:ext>
            </a:extLst>
          </p:cNvPr>
          <p:cNvSpPr>
            <a:spLocks noGrp="1"/>
          </p:cNvSpPr>
          <p:nvPr/>
        </p:nvSpPr>
        <p:spPr>
          <a:xfrm>
            <a:off x="533400" y="1847850"/>
            <a:ext cx="8077200" cy="685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93DF28B-0AFA-490D-ABF1-6D51F1B8E7F1}"/>
              </a:ext>
            </a:extLst>
          </p:cNvPr>
          <p:cNvSpPr>
            <a:spLocks noGrp="1"/>
          </p:cNvSpPr>
          <p:nvPr/>
        </p:nvSpPr>
        <p:spPr>
          <a:xfrm>
            <a:off x="533400" y="1847850"/>
            <a:ext cx="9525" cy="685800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E0A58AA-48ED-47E6-AE44-EBCC251D4DC3}"/>
              </a:ext>
            </a:extLst>
          </p:cNvPr>
          <p:cNvSpPr>
            <a:spLocks noGrp="1"/>
          </p:cNvSpPr>
          <p:nvPr/>
        </p:nvSpPr>
        <p:spPr>
          <a:xfrm>
            <a:off x="628650" y="198120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200" b="1" i="0" noProof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Personalized discovery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988B4F0-3E80-41D0-9144-9BF4DA045ED1}"/>
              </a:ext>
            </a:extLst>
          </p:cNvPr>
          <p:cNvSpPr>
            <a:spLocks noGrp="1"/>
          </p:cNvSpPr>
          <p:nvPr/>
        </p:nvSpPr>
        <p:spPr>
          <a:xfrm>
            <a:off x="2495550" y="1847850"/>
            <a:ext cx="9525" cy="685800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B0544683-16F6-4A4F-B8ED-630C0EAA5C6B}"/>
              </a:ext>
            </a:extLst>
          </p:cNvPr>
          <p:cNvSpPr>
            <a:spLocks noGrp="1"/>
          </p:cNvSpPr>
          <p:nvPr/>
        </p:nvSpPr>
        <p:spPr>
          <a:xfrm>
            <a:off x="2590800" y="20764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Basic search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A7654EA7-1C9B-48C9-A067-1A9617522DE0}"/>
              </a:ext>
            </a:extLst>
          </p:cNvPr>
          <p:cNvSpPr>
            <a:spLocks noGrp="1"/>
          </p:cNvSpPr>
          <p:nvPr/>
        </p:nvSpPr>
        <p:spPr>
          <a:xfrm>
            <a:off x="4457700" y="1847850"/>
            <a:ext cx="9525" cy="685800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5D45B46-1C2C-44E5-AFCD-4B649646B113}"/>
              </a:ext>
            </a:extLst>
          </p:cNvPr>
          <p:cNvSpPr>
            <a:spLocks noGrp="1"/>
          </p:cNvSpPr>
          <p:nvPr/>
        </p:nvSpPr>
        <p:spPr>
          <a:xfrm>
            <a:off x="4552950" y="20764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Manual discovery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5917A61A-BF46-4EDB-BD4F-13CDC29B385A}"/>
              </a:ext>
            </a:extLst>
          </p:cNvPr>
          <p:cNvSpPr>
            <a:spLocks noGrp="1"/>
          </p:cNvSpPr>
          <p:nvPr/>
        </p:nvSpPr>
        <p:spPr>
          <a:xfrm>
            <a:off x="6419850" y="1847850"/>
            <a:ext cx="9525" cy="685800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67E79C49-5204-4CAD-92EC-3406B3DA769E}"/>
              </a:ext>
            </a:extLst>
          </p:cNvPr>
          <p:cNvSpPr>
            <a:spLocks noGrp="1"/>
          </p:cNvSpPr>
          <p:nvPr/>
        </p:nvSpPr>
        <p:spPr>
          <a:xfrm>
            <a:off x="6515100" y="20764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200" b="1" i="0" noProof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Strict multi-filter search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EE041F4-AA2A-4C60-BBDE-BCC1E55C48EB}"/>
              </a:ext>
            </a:extLst>
          </p:cNvPr>
          <p:cNvSpPr>
            <a:spLocks noGrp="1"/>
          </p:cNvSpPr>
          <p:nvPr/>
        </p:nvSpPr>
        <p:spPr>
          <a:xfrm>
            <a:off x="533400" y="2533650"/>
            <a:ext cx="8077200" cy="685800"/>
          </a:xfrm>
          <a:prstGeom prst="rect">
            <a:avLst/>
          </a:prstGeom>
          <a:solidFill>
            <a:srgbClr val="F8EBDD"/>
          </a:solidFill>
          <a:ln w="0">
            <a:solidFill>
              <a:srgbClr val="F8EBDD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7CB16729-C6BC-49C6-8E4E-A1C7D48167E5}"/>
              </a:ext>
            </a:extLst>
          </p:cNvPr>
          <p:cNvSpPr>
            <a:spLocks noGrp="1"/>
          </p:cNvSpPr>
          <p:nvPr/>
        </p:nvSpPr>
        <p:spPr>
          <a:xfrm>
            <a:off x="533400" y="2533650"/>
            <a:ext cx="9525" cy="685800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D4D5B3EC-9F76-4142-AE12-18A98182206A}"/>
              </a:ext>
            </a:extLst>
          </p:cNvPr>
          <p:cNvSpPr>
            <a:spLocks noGrp="1"/>
          </p:cNvSpPr>
          <p:nvPr/>
        </p:nvSpPr>
        <p:spPr>
          <a:xfrm>
            <a:off x="628650" y="27622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200" b="1" i="0" noProof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Recipe creation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43C898F8-9C88-4ED5-BA24-B2C1993CEF0A}"/>
              </a:ext>
            </a:extLst>
          </p:cNvPr>
          <p:cNvSpPr>
            <a:spLocks noGrp="1"/>
          </p:cNvSpPr>
          <p:nvPr/>
        </p:nvSpPr>
        <p:spPr>
          <a:xfrm>
            <a:off x="2495550" y="2533650"/>
            <a:ext cx="9525" cy="685800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E71491B6-070E-4EA3-AF91-0E64EE6628C1}"/>
              </a:ext>
            </a:extLst>
          </p:cNvPr>
          <p:cNvSpPr>
            <a:spLocks noGrp="1"/>
          </p:cNvSpPr>
          <p:nvPr/>
        </p:nvSpPr>
        <p:spPr>
          <a:xfrm>
            <a:off x="2590800" y="27622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Limited workflows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4FF8034A-B95D-4FDA-A05B-B986CDDF5C36}"/>
              </a:ext>
            </a:extLst>
          </p:cNvPr>
          <p:cNvSpPr>
            <a:spLocks noGrp="1"/>
          </p:cNvSpPr>
          <p:nvPr/>
        </p:nvSpPr>
        <p:spPr>
          <a:xfrm>
            <a:off x="4457700" y="2533650"/>
            <a:ext cx="9525" cy="685800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4E550750-95B3-4DEB-A378-B26076738187}"/>
              </a:ext>
            </a:extLst>
          </p:cNvPr>
          <p:cNvSpPr>
            <a:spLocks noGrp="1"/>
          </p:cNvSpPr>
          <p:nvPr/>
        </p:nvSpPr>
        <p:spPr>
          <a:xfrm>
            <a:off x="4552950" y="27622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Content only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02ADBE83-0623-4105-992C-036275B19F71}"/>
              </a:ext>
            </a:extLst>
          </p:cNvPr>
          <p:cNvSpPr>
            <a:spLocks noGrp="1"/>
          </p:cNvSpPr>
          <p:nvPr/>
        </p:nvSpPr>
        <p:spPr>
          <a:xfrm>
            <a:off x="6419850" y="2533650"/>
            <a:ext cx="9525" cy="685800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97F72A3D-6A9A-46FF-B9DD-50359E2BFAB2}"/>
              </a:ext>
            </a:extLst>
          </p:cNvPr>
          <p:cNvSpPr>
            <a:spLocks noGrp="1"/>
          </p:cNvSpPr>
          <p:nvPr/>
        </p:nvSpPr>
        <p:spPr>
          <a:xfrm>
            <a:off x="6515100" y="27622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200" b="1" i="0" noProof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Create, edit, copy, publish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F31D8DEA-3ACB-4ADD-8E20-0C0C3C82305A}"/>
              </a:ext>
            </a:extLst>
          </p:cNvPr>
          <p:cNvSpPr>
            <a:spLocks noGrp="1"/>
          </p:cNvSpPr>
          <p:nvPr/>
        </p:nvSpPr>
        <p:spPr>
          <a:xfrm>
            <a:off x="533400" y="3219450"/>
            <a:ext cx="8077200" cy="685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6FC5C43E-7407-4C8F-95AD-DCB57EF621D1}"/>
              </a:ext>
            </a:extLst>
          </p:cNvPr>
          <p:cNvSpPr>
            <a:spLocks noGrp="1"/>
          </p:cNvSpPr>
          <p:nvPr/>
        </p:nvSpPr>
        <p:spPr>
          <a:xfrm>
            <a:off x="533400" y="3219450"/>
            <a:ext cx="9525" cy="685800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FFDF7983-AECF-4662-867A-9152F0D38216}"/>
              </a:ext>
            </a:extLst>
          </p:cNvPr>
          <p:cNvSpPr>
            <a:spLocks noGrp="1"/>
          </p:cNvSpPr>
          <p:nvPr/>
        </p:nvSpPr>
        <p:spPr>
          <a:xfrm>
            <a:off x="628650" y="34480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200" b="1" i="0" noProof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AI support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E12CBC7B-1F96-4A77-884C-73AAB8E77D04}"/>
              </a:ext>
            </a:extLst>
          </p:cNvPr>
          <p:cNvSpPr>
            <a:spLocks noGrp="1"/>
          </p:cNvSpPr>
          <p:nvPr/>
        </p:nvSpPr>
        <p:spPr>
          <a:xfrm>
            <a:off x="2495550" y="3219450"/>
            <a:ext cx="9525" cy="685800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B83BAB7D-EF8F-4598-8431-0A1A27D8D205}"/>
              </a:ext>
            </a:extLst>
          </p:cNvPr>
          <p:cNvSpPr>
            <a:spLocks noGrp="1"/>
          </p:cNvSpPr>
          <p:nvPr/>
        </p:nvSpPr>
        <p:spPr>
          <a:xfrm>
            <a:off x="2590800" y="34480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Usually absent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A52EFDE1-F543-40AF-A65C-D2616C4EC4E3}"/>
              </a:ext>
            </a:extLst>
          </p:cNvPr>
          <p:cNvSpPr>
            <a:spLocks noGrp="1"/>
          </p:cNvSpPr>
          <p:nvPr/>
        </p:nvSpPr>
        <p:spPr>
          <a:xfrm>
            <a:off x="4457700" y="3219450"/>
            <a:ext cx="9525" cy="685800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10B1BDA5-5039-472B-88AF-E15188E52400}"/>
              </a:ext>
            </a:extLst>
          </p:cNvPr>
          <p:cNvSpPr>
            <a:spLocks noGrp="1"/>
          </p:cNvSpPr>
          <p:nvPr/>
        </p:nvSpPr>
        <p:spPr>
          <a:xfrm>
            <a:off x="4552950" y="34480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Not linked to app data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1555E401-28E7-4DDD-97CD-FE7405DC23BC}"/>
              </a:ext>
            </a:extLst>
          </p:cNvPr>
          <p:cNvSpPr>
            <a:spLocks noGrp="1"/>
          </p:cNvSpPr>
          <p:nvPr/>
        </p:nvSpPr>
        <p:spPr>
          <a:xfrm>
            <a:off x="6419850" y="3219450"/>
            <a:ext cx="9525" cy="685800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016BEF8B-3578-4193-BEF1-2192AABA4C2D}"/>
              </a:ext>
            </a:extLst>
          </p:cNvPr>
          <p:cNvSpPr>
            <a:spLocks noGrp="1"/>
          </p:cNvSpPr>
          <p:nvPr/>
        </p:nvSpPr>
        <p:spPr>
          <a:xfrm>
            <a:off x="6515100" y="3381144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200" b="1" i="0" noProof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Gemini with recipe tool search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097A55C4-64DD-4DD5-99BF-653813286A87}"/>
              </a:ext>
            </a:extLst>
          </p:cNvPr>
          <p:cNvSpPr>
            <a:spLocks noGrp="1"/>
          </p:cNvSpPr>
          <p:nvPr/>
        </p:nvSpPr>
        <p:spPr>
          <a:xfrm>
            <a:off x="533400" y="3905250"/>
            <a:ext cx="8077200" cy="685800"/>
          </a:xfrm>
          <a:prstGeom prst="rect">
            <a:avLst/>
          </a:prstGeom>
          <a:solidFill>
            <a:srgbClr val="F8EBDD"/>
          </a:solidFill>
          <a:ln w="0">
            <a:solidFill>
              <a:srgbClr val="F8EBDD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8774DC6E-1885-49D6-9E1E-FC39DE04823C}"/>
              </a:ext>
            </a:extLst>
          </p:cNvPr>
          <p:cNvSpPr>
            <a:spLocks noGrp="1"/>
          </p:cNvSpPr>
          <p:nvPr/>
        </p:nvSpPr>
        <p:spPr>
          <a:xfrm>
            <a:off x="533400" y="3905250"/>
            <a:ext cx="9525" cy="685800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AB1B1A63-2795-490C-AF3D-77E98117B151}"/>
              </a:ext>
            </a:extLst>
          </p:cNvPr>
          <p:cNvSpPr>
            <a:spLocks noGrp="1"/>
          </p:cNvSpPr>
          <p:nvPr/>
        </p:nvSpPr>
        <p:spPr>
          <a:xfrm>
            <a:off x="628650" y="41338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200" b="1" i="0" noProof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Planning &amp; analytics</a:t>
            </a:r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BF4D25E1-DEB0-4C59-B409-51BC4F9AB2DA}"/>
              </a:ext>
            </a:extLst>
          </p:cNvPr>
          <p:cNvSpPr>
            <a:spLocks noGrp="1"/>
          </p:cNvSpPr>
          <p:nvPr/>
        </p:nvSpPr>
        <p:spPr>
          <a:xfrm>
            <a:off x="2495550" y="3905250"/>
            <a:ext cx="9525" cy="685800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2BB76D0E-B59F-49F2-9B3B-94BDDB8E9457}"/>
              </a:ext>
            </a:extLst>
          </p:cNvPr>
          <p:cNvSpPr>
            <a:spLocks noGrp="1"/>
          </p:cNvSpPr>
          <p:nvPr/>
        </p:nvSpPr>
        <p:spPr>
          <a:xfrm>
            <a:off x="2590800" y="41338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Often separate</a:t>
            </a:r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0A70C489-ABED-43A9-AC91-1EC8E13B8635}"/>
              </a:ext>
            </a:extLst>
          </p:cNvPr>
          <p:cNvSpPr>
            <a:spLocks noGrp="1"/>
          </p:cNvSpPr>
          <p:nvPr/>
        </p:nvSpPr>
        <p:spPr>
          <a:xfrm>
            <a:off x="4457700" y="3905250"/>
            <a:ext cx="9525" cy="685800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E6F11275-988B-4945-A3CE-D0049AA8DF4B}"/>
              </a:ext>
            </a:extLst>
          </p:cNvPr>
          <p:cNvSpPr>
            <a:spLocks noGrp="1"/>
          </p:cNvSpPr>
          <p:nvPr/>
        </p:nvSpPr>
        <p:spPr>
          <a:xfrm>
            <a:off x="4552950" y="41338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Not structured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A0DB49E8-171E-4557-996D-C2283885B32C}"/>
              </a:ext>
            </a:extLst>
          </p:cNvPr>
          <p:cNvSpPr>
            <a:spLocks noGrp="1"/>
          </p:cNvSpPr>
          <p:nvPr/>
        </p:nvSpPr>
        <p:spPr>
          <a:xfrm>
            <a:off x="6419850" y="3905250"/>
            <a:ext cx="9525" cy="685800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sz="1200" noProof="0" dirty="0"/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AFEFD416-2CD3-42F2-A950-B8B24B0D9AEC}"/>
              </a:ext>
            </a:extLst>
          </p:cNvPr>
          <p:cNvSpPr>
            <a:spLocks noGrp="1"/>
          </p:cNvSpPr>
          <p:nvPr/>
        </p:nvSpPr>
        <p:spPr>
          <a:xfrm>
            <a:off x="6515100" y="4089246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10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200" b="1" i="0" noProof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Weekly plans and creator stats</a:t>
            </a:r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54BB0C35-DA62-4E8F-A94B-818B919B2C41}"/>
              </a:ext>
            </a:extLst>
          </p:cNvPr>
          <p:cNvSpPr>
            <a:spLocks noGrp="1"/>
          </p:cNvSpPr>
          <p:nvPr/>
        </p:nvSpPr>
        <p:spPr>
          <a:xfrm>
            <a:off x="533400" y="4591050"/>
            <a:ext cx="8077200" cy="9525"/>
          </a:xfrm>
          <a:prstGeom prst="rect">
            <a:avLst/>
          </a:prstGeom>
          <a:solidFill>
            <a:srgbClr val="DDE3EA"/>
          </a:solidFill>
          <a:ln w="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85154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tangolo 27">
            <a:extLst>
              <a:ext uri="{FF2B5EF4-FFF2-40B4-BE49-F238E27FC236}">
                <a16:creationId xmlns:a16="http://schemas.microsoft.com/office/drawing/2014/main" id="{DF27B3B2-9266-4C70-A61C-B5A423EE6A66}"/>
              </a:ext>
            </a:extLst>
          </p:cNvPr>
          <p:cNvSpPr>
            <a:spLocks noGrp="1"/>
          </p:cNvSpPr>
          <p:nvPr/>
        </p:nvSpPr>
        <p:spPr>
          <a:xfrm>
            <a:off x="4229100" y="781981"/>
            <a:ext cx="685800" cy="28575"/>
          </a:xfrm>
          <a:prstGeom prst="rect">
            <a:avLst/>
          </a:prstGeom>
          <a:solidFill>
            <a:srgbClr val="E27B28"/>
          </a:solidFill>
          <a:ln w="0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9E9A31F5-8039-401D-B48E-A60EFFD10CD7}"/>
              </a:ext>
            </a:extLst>
          </p:cNvPr>
          <p:cNvSpPr>
            <a:spLocks noGrp="1"/>
          </p:cNvSpPr>
          <p:nvPr/>
        </p:nvSpPr>
        <p:spPr>
          <a:xfrm>
            <a:off x="4229100" y="877231"/>
            <a:ext cx="685800" cy="28575"/>
          </a:xfrm>
          <a:prstGeom prst="rect">
            <a:avLst/>
          </a:prstGeom>
          <a:solidFill>
            <a:srgbClr val="E27B28"/>
          </a:solidFill>
          <a:ln w="0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C2375C0-E012-4BDD-8A25-D18F37E6D31A}"/>
              </a:ext>
            </a:extLst>
          </p:cNvPr>
          <p:cNvSpPr>
            <a:spLocks noGrp="1"/>
          </p:cNvSpPr>
          <p:nvPr/>
        </p:nvSpPr>
        <p:spPr>
          <a:xfrm>
            <a:off x="904875" y="1252193"/>
            <a:ext cx="733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27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Architecture &amp; Implementation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31A73399-2A89-42EB-9ADD-9B04D8545C91}"/>
              </a:ext>
            </a:extLst>
          </p:cNvPr>
          <p:cNvSpPr>
            <a:spLocks noGrp="1"/>
          </p:cNvSpPr>
          <p:nvPr/>
        </p:nvSpPr>
        <p:spPr>
          <a:xfrm>
            <a:off x="1285875" y="1965176"/>
            <a:ext cx="657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4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clean layered structure separates UI, state management, business logic, and external services.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5BFC93E2-ABC0-484F-A9F2-56E81CA6CC92}"/>
              </a:ext>
            </a:extLst>
          </p:cNvPr>
          <p:cNvSpPr>
            <a:spLocks noGrp="1"/>
          </p:cNvSpPr>
          <p:nvPr/>
        </p:nvSpPr>
        <p:spPr>
          <a:xfrm>
            <a:off x="742950" y="2773172"/>
            <a:ext cx="1695450" cy="157580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B6F3D55F-4CCB-4AB6-82F0-44DFC4BDCFB0}"/>
              </a:ext>
            </a:extLst>
          </p:cNvPr>
          <p:cNvSpPr>
            <a:spLocks noGrp="1"/>
          </p:cNvSpPr>
          <p:nvPr/>
        </p:nvSpPr>
        <p:spPr>
          <a:xfrm>
            <a:off x="914400" y="2944622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6AD12F40-AFE6-4966-B3E5-A92043D320D5}"/>
              </a:ext>
            </a:extLst>
          </p:cNvPr>
          <p:cNvSpPr>
            <a:spLocks noGrp="1"/>
          </p:cNvSpPr>
          <p:nvPr/>
        </p:nvSpPr>
        <p:spPr>
          <a:xfrm>
            <a:off x="914400" y="2982722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5274AC2-579B-4816-B722-B4FA83F4ED3B}"/>
              </a:ext>
            </a:extLst>
          </p:cNvPr>
          <p:cNvSpPr>
            <a:spLocks noGrp="1"/>
          </p:cNvSpPr>
          <p:nvPr/>
        </p:nvSpPr>
        <p:spPr>
          <a:xfrm>
            <a:off x="914400" y="3325622"/>
            <a:ext cx="135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4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Compose UI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00E3E04-5470-4569-B56D-CB865FBCEADB}"/>
              </a:ext>
            </a:extLst>
          </p:cNvPr>
          <p:cNvSpPr>
            <a:spLocks noGrp="1"/>
          </p:cNvSpPr>
          <p:nvPr/>
        </p:nvSpPr>
        <p:spPr>
          <a:xfrm>
            <a:off x="914400" y="3639946"/>
            <a:ext cx="1352550" cy="6421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6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Screens, Material 3, navigation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F548FD8-0293-4929-BEDF-2629B2460B7B}"/>
              </a:ext>
            </a:extLst>
          </p:cNvPr>
          <p:cNvSpPr>
            <a:spLocks noGrp="1"/>
          </p:cNvSpPr>
          <p:nvPr/>
        </p:nvSpPr>
        <p:spPr>
          <a:xfrm>
            <a:off x="2495550" y="3268472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E27B28"/>
                </a:solidFill>
                <a:latin typeface="Aptos"/>
                <a:ea typeface="Aptos"/>
                <a:cs typeface="Aptos"/>
              </a:defRPr>
            </a:pPr>
            <a:r>
              <a:rPr lang="en-US" sz="1500" b="1" i="0" noProof="0" dirty="0">
                <a:solidFill>
                  <a:srgbClr val="E27B2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E5211163-03E7-4CB9-B6FD-0064A5FAFA95}"/>
              </a:ext>
            </a:extLst>
          </p:cNvPr>
          <p:cNvSpPr>
            <a:spLocks noGrp="1"/>
          </p:cNvSpPr>
          <p:nvPr/>
        </p:nvSpPr>
        <p:spPr>
          <a:xfrm>
            <a:off x="2781300" y="2773172"/>
            <a:ext cx="1695450" cy="157580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B4CD3501-82E7-402E-B898-7033B04D9766}"/>
              </a:ext>
            </a:extLst>
          </p:cNvPr>
          <p:cNvSpPr>
            <a:spLocks noGrp="1"/>
          </p:cNvSpPr>
          <p:nvPr/>
        </p:nvSpPr>
        <p:spPr>
          <a:xfrm>
            <a:off x="2952750" y="2944622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586A47"/>
          </a:solidFill>
          <a:ln w="9525">
            <a:solidFill>
              <a:srgbClr val="586A47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D7A52F1-FEF2-482E-9792-889844DCC274}"/>
              </a:ext>
            </a:extLst>
          </p:cNvPr>
          <p:cNvSpPr>
            <a:spLocks noGrp="1"/>
          </p:cNvSpPr>
          <p:nvPr/>
        </p:nvSpPr>
        <p:spPr>
          <a:xfrm>
            <a:off x="2952750" y="2982722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33E2B32F-C386-4F2E-8B3D-E4288D472118}"/>
              </a:ext>
            </a:extLst>
          </p:cNvPr>
          <p:cNvSpPr>
            <a:spLocks noGrp="1"/>
          </p:cNvSpPr>
          <p:nvPr/>
        </p:nvSpPr>
        <p:spPr>
          <a:xfrm>
            <a:off x="2952750" y="3325622"/>
            <a:ext cx="135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400" b="1" i="0" noProof="0" dirty="0" err="1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ViewModels</a:t>
            </a:r>
            <a:endParaRPr lang="en-US" sz="1400" b="1" i="0" noProof="0" dirty="0">
              <a:solidFill>
                <a:srgbClr val="172033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EAF6F026-8FF1-4896-8F08-123B9B6C7112}"/>
              </a:ext>
            </a:extLst>
          </p:cNvPr>
          <p:cNvSpPr>
            <a:spLocks noGrp="1"/>
          </p:cNvSpPr>
          <p:nvPr/>
        </p:nvSpPr>
        <p:spPr>
          <a:xfrm>
            <a:off x="2952750" y="3639946"/>
            <a:ext cx="1352550" cy="6421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6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StateFlow</a:t>
            </a: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, events, validation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C1AD9B81-6D5B-4A03-95E7-AA4F55CD796D}"/>
              </a:ext>
            </a:extLst>
          </p:cNvPr>
          <p:cNvSpPr>
            <a:spLocks noGrp="1"/>
          </p:cNvSpPr>
          <p:nvPr/>
        </p:nvSpPr>
        <p:spPr>
          <a:xfrm>
            <a:off x="4533900" y="3268472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E27B28"/>
                </a:solidFill>
                <a:latin typeface="Aptos"/>
                <a:ea typeface="Aptos"/>
                <a:cs typeface="Aptos"/>
              </a:defRPr>
            </a:pPr>
            <a:r>
              <a:rPr lang="en-US" sz="1500" b="1" i="0" noProof="0" dirty="0">
                <a:solidFill>
                  <a:srgbClr val="E27B2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67D647F4-8A83-44D8-9ECE-3835ADD5B79B}"/>
              </a:ext>
            </a:extLst>
          </p:cNvPr>
          <p:cNvSpPr>
            <a:spLocks noGrp="1"/>
          </p:cNvSpPr>
          <p:nvPr/>
        </p:nvSpPr>
        <p:spPr>
          <a:xfrm>
            <a:off x="4819650" y="2773172"/>
            <a:ext cx="1695450" cy="157580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0300EDBB-C55A-4755-94E4-BA10F87EF70A}"/>
              </a:ext>
            </a:extLst>
          </p:cNvPr>
          <p:cNvSpPr>
            <a:spLocks noGrp="1"/>
          </p:cNvSpPr>
          <p:nvPr/>
        </p:nvSpPr>
        <p:spPr>
          <a:xfrm>
            <a:off x="4991100" y="2944622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471714F3-A1C3-46F0-BF83-FAEC9D54C3D2}"/>
              </a:ext>
            </a:extLst>
          </p:cNvPr>
          <p:cNvSpPr>
            <a:spLocks noGrp="1"/>
          </p:cNvSpPr>
          <p:nvPr/>
        </p:nvSpPr>
        <p:spPr>
          <a:xfrm>
            <a:off x="4991100" y="2982722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18DAB0F0-7659-49F4-9878-023C58BE1B34}"/>
              </a:ext>
            </a:extLst>
          </p:cNvPr>
          <p:cNvSpPr>
            <a:spLocks noGrp="1"/>
          </p:cNvSpPr>
          <p:nvPr/>
        </p:nvSpPr>
        <p:spPr>
          <a:xfrm>
            <a:off x="4991100" y="3325622"/>
            <a:ext cx="135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4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Use Cases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706FF8BA-09A5-45E6-8661-400B1889493D}"/>
              </a:ext>
            </a:extLst>
          </p:cNvPr>
          <p:cNvSpPr>
            <a:spLocks noGrp="1"/>
          </p:cNvSpPr>
          <p:nvPr/>
        </p:nvSpPr>
        <p:spPr>
          <a:xfrm>
            <a:off x="4991100" y="3639946"/>
            <a:ext cx="1352550" cy="6421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6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Business rules and workflows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CEB4CC76-6259-4630-8D0F-7B13B8F22616}"/>
              </a:ext>
            </a:extLst>
          </p:cNvPr>
          <p:cNvSpPr>
            <a:spLocks noGrp="1"/>
          </p:cNvSpPr>
          <p:nvPr/>
        </p:nvSpPr>
        <p:spPr>
          <a:xfrm>
            <a:off x="6572250" y="3268472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E27B28"/>
                </a:solidFill>
                <a:latin typeface="Aptos"/>
                <a:ea typeface="Aptos"/>
                <a:cs typeface="Aptos"/>
              </a:defRPr>
            </a:pPr>
            <a:r>
              <a:rPr lang="en-US" sz="1500" b="1" i="0" noProof="0" dirty="0">
                <a:solidFill>
                  <a:srgbClr val="E27B2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056BA67F-8B32-452F-A8CC-9EEB860DAC69}"/>
              </a:ext>
            </a:extLst>
          </p:cNvPr>
          <p:cNvSpPr>
            <a:spLocks noGrp="1"/>
          </p:cNvSpPr>
          <p:nvPr/>
        </p:nvSpPr>
        <p:spPr>
          <a:xfrm>
            <a:off x="6858000" y="2773172"/>
            <a:ext cx="1695450" cy="157580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EF4D6470-9B3F-43E8-ACAD-CD6432DF9075}"/>
              </a:ext>
            </a:extLst>
          </p:cNvPr>
          <p:cNvSpPr>
            <a:spLocks noGrp="1"/>
          </p:cNvSpPr>
          <p:nvPr/>
        </p:nvSpPr>
        <p:spPr>
          <a:xfrm>
            <a:off x="7029450" y="2944622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586A47"/>
          </a:solidFill>
          <a:ln w="9525">
            <a:solidFill>
              <a:srgbClr val="586A47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07F330DF-C551-4724-9CFF-D7781F083C40}"/>
              </a:ext>
            </a:extLst>
          </p:cNvPr>
          <p:cNvSpPr>
            <a:spLocks noGrp="1"/>
          </p:cNvSpPr>
          <p:nvPr/>
        </p:nvSpPr>
        <p:spPr>
          <a:xfrm>
            <a:off x="7029450" y="2982722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D2B2E4BB-0E8D-4438-8FA4-264FE1119FEA}"/>
              </a:ext>
            </a:extLst>
          </p:cNvPr>
          <p:cNvSpPr>
            <a:spLocks noGrp="1"/>
          </p:cNvSpPr>
          <p:nvPr/>
        </p:nvSpPr>
        <p:spPr>
          <a:xfrm>
            <a:off x="7029450" y="3325622"/>
            <a:ext cx="1352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4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Repositories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4D7298EB-2533-4E0A-AFBB-C2EBAFD86623}"/>
              </a:ext>
            </a:extLst>
          </p:cNvPr>
          <p:cNvSpPr>
            <a:spLocks noGrp="1"/>
          </p:cNvSpPr>
          <p:nvPr/>
        </p:nvSpPr>
        <p:spPr>
          <a:xfrm>
            <a:off x="7029450" y="3639946"/>
            <a:ext cx="1352550" cy="6421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6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Firebase, </a:t>
            </a:r>
            <a:r>
              <a:rPr lang="en-US" sz="1200" b="0" i="0" noProof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Supabase</a:t>
            </a: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, Gemini</a:t>
            </a:r>
          </a:p>
        </p:txBody>
      </p:sp>
    </p:spTree>
    <p:extLst>
      <p:ext uri="{BB962C8B-B14F-4D97-AF65-F5344CB8AC3E}">
        <p14:creationId xmlns:p14="http://schemas.microsoft.com/office/powerpoint/2010/main" val="1005928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tangolo 29">
            <a:extLst>
              <a:ext uri="{FF2B5EF4-FFF2-40B4-BE49-F238E27FC236}">
                <a16:creationId xmlns:a16="http://schemas.microsoft.com/office/drawing/2014/main" id="{441A78F3-31E5-4194-9779-28246298FDA2}"/>
              </a:ext>
            </a:extLst>
          </p:cNvPr>
          <p:cNvSpPr>
            <a:spLocks noGrp="1"/>
          </p:cNvSpPr>
          <p:nvPr/>
        </p:nvSpPr>
        <p:spPr>
          <a:xfrm>
            <a:off x="428625" y="438150"/>
            <a:ext cx="38100" cy="400050"/>
          </a:xfrm>
          <a:prstGeom prst="rect">
            <a:avLst/>
          </a:prstGeom>
          <a:solidFill>
            <a:srgbClr val="E27B28"/>
          </a:solidFill>
          <a:ln w="0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8081C69-95A4-4117-8E61-57F7E337C6C4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00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255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Utility Extra Features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7F6A8F26-1739-4CED-9B9C-97530752F744}"/>
              </a:ext>
            </a:extLst>
          </p:cNvPr>
          <p:cNvSpPr>
            <a:spLocks noGrp="1"/>
          </p:cNvSpPr>
          <p:nvPr/>
        </p:nvSpPr>
        <p:spPr>
          <a:xfrm>
            <a:off x="3378058" y="1381124"/>
            <a:ext cx="2381250" cy="1362073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3AE4D32E-1002-417F-A490-E23EF9252AE6}"/>
              </a:ext>
            </a:extLst>
          </p:cNvPr>
          <p:cNvSpPr>
            <a:spLocks noGrp="1"/>
          </p:cNvSpPr>
          <p:nvPr/>
        </p:nvSpPr>
        <p:spPr>
          <a:xfrm>
            <a:off x="3603005" y="1922526"/>
            <a:ext cx="1988170" cy="69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63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1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Offline recipe export with app theme colors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18848077-C9D6-4582-A76A-7D6DC0378FE4}"/>
              </a:ext>
            </a:extLst>
          </p:cNvPr>
          <p:cNvSpPr>
            <a:spLocks noGrp="1"/>
          </p:cNvSpPr>
          <p:nvPr/>
        </p:nvSpPr>
        <p:spPr>
          <a:xfrm>
            <a:off x="570626" y="2250186"/>
            <a:ext cx="2381250" cy="13620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F52C6145-EC22-4CD8-973C-D618A304EC00}"/>
              </a:ext>
            </a:extLst>
          </p:cNvPr>
          <p:cNvSpPr>
            <a:spLocks noGrp="1"/>
          </p:cNvSpPr>
          <p:nvPr/>
        </p:nvSpPr>
        <p:spPr>
          <a:xfrm>
            <a:off x="742076" y="2421636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E6C69C56-ACF3-4016-BCB8-FE8E4EC7C506}"/>
              </a:ext>
            </a:extLst>
          </p:cNvPr>
          <p:cNvSpPr>
            <a:spLocks noGrp="1"/>
          </p:cNvSpPr>
          <p:nvPr/>
        </p:nvSpPr>
        <p:spPr>
          <a:xfrm>
            <a:off x="742076" y="2459736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18E9B4F9-7641-4AF2-9FB0-B6B7DB83A968}"/>
              </a:ext>
            </a:extLst>
          </p:cNvPr>
          <p:cNvSpPr>
            <a:spLocks noGrp="1"/>
          </p:cNvSpPr>
          <p:nvPr/>
        </p:nvSpPr>
        <p:spPr>
          <a:xfrm>
            <a:off x="1243472" y="2399537"/>
            <a:ext cx="174040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275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Dynamic portions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B81B13F5-8289-4AB1-B5ED-B68E7CBB9CE5}"/>
              </a:ext>
            </a:extLst>
          </p:cNvPr>
          <p:cNvSpPr>
            <a:spLocks noGrp="1"/>
          </p:cNvSpPr>
          <p:nvPr/>
        </p:nvSpPr>
        <p:spPr>
          <a:xfrm>
            <a:off x="742076" y="2791587"/>
            <a:ext cx="2038350" cy="8206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9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1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Calories and ingredient quantities scale automatically when users change servings.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EDD2B1A2-7DE4-4AB1-B83F-F796F2592FEB}"/>
              </a:ext>
            </a:extLst>
          </p:cNvPr>
          <p:cNvSpPr>
            <a:spLocks noGrp="1"/>
          </p:cNvSpPr>
          <p:nvPr/>
        </p:nvSpPr>
        <p:spPr>
          <a:xfrm>
            <a:off x="3381375" y="3177159"/>
            <a:ext cx="2381250" cy="13620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89B6D65C-6A48-408D-AA2A-1237F2BB818F}"/>
              </a:ext>
            </a:extLst>
          </p:cNvPr>
          <p:cNvSpPr>
            <a:spLocks noGrp="1"/>
          </p:cNvSpPr>
          <p:nvPr/>
        </p:nvSpPr>
        <p:spPr>
          <a:xfrm>
            <a:off x="3552825" y="3348609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E272E4E6-F39B-441E-AC87-81912C9B5F8B}"/>
              </a:ext>
            </a:extLst>
          </p:cNvPr>
          <p:cNvSpPr>
            <a:spLocks noGrp="1"/>
          </p:cNvSpPr>
          <p:nvPr/>
        </p:nvSpPr>
        <p:spPr>
          <a:xfrm>
            <a:off x="3552825" y="3386709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it-IT" sz="788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</a:t>
            </a:r>
            <a:endParaRPr lang="en-US" sz="788" b="1" i="0" noProof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D1B91F7F-B8C6-4835-A8C7-585E800E3629}"/>
              </a:ext>
            </a:extLst>
          </p:cNvPr>
          <p:cNvSpPr>
            <a:spLocks noGrp="1"/>
          </p:cNvSpPr>
          <p:nvPr/>
        </p:nvSpPr>
        <p:spPr>
          <a:xfrm>
            <a:off x="4121770" y="332651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275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Weekly planning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AAE1DAE9-DA3F-465C-9916-C393D5EB3D63}"/>
              </a:ext>
            </a:extLst>
          </p:cNvPr>
          <p:cNvSpPr>
            <a:spLocks noGrp="1"/>
          </p:cNvSpPr>
          <p:nvPr/>
        </p:nvSpPr>
        <p:spPr>
          <a:xfrm>
            <a:off x="3552825" y="3718560"/>
            <a:ext cx="2038350" cy="8206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9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1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Recipes can be assigned to days and meal slots, with calories summed per slot.</a:t>
            </a: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D4D78C69-FA13-4DB1-AE7F-627A191922D3}"/>
              </a:ext>
            </a:extLst>
          </p:cNvPr>
          <p:cNvSpPr>
            <a:spLocks noGrp="1"/>
          </p:cNvSpPr>
          <p:nvPr/>
        </p:nvSpPr>
        <p:spPr>
          <a:xfrm>
            <a:off x="6160120" y="2250186"/>
            <a:ext cx="2381250" cy="13620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292E7660-C002-4A74-BDF3-978BBE38CFA9}"/>
              </a:ext>
            </a:extLst>
          </p:cNvPr>
          <p:cNvSpPr>
            <a:spLocks noGrp="1"/>
          </p:cNvSpPr>
          <p:nvPr/>
        </p:nvSpPr>
        <p:spPr>
          <a:xfrm>
            <a:off x="6331570" y="2421636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298395B6-D460-45DF-8083-9F60FDA58B24}"/>
              </a:ext>
            </a:extLst>
          </p:cNvPr>
          <p:cNvSpPr>
            <a:spLocks noGrp="1"/>
          </p:cNvSpPr>
          <p:nvPr/>
        </p:nvSpPr>
        <p:spPr>
          <a:xfrm>
            <a:off x="6331570" y="2459736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</a:t>
            </a:r>
            <a:endParaRPr lang="en-US" sz="788" b="1" i="0" noProof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04FB8EA4-FCF1-4D6E-AD74-1232309D0A11}"/>
              </a:ext>
            </a:extLst>
          </p:cNvPr>
          <p:cNvSpPr>
            <a:spLocks noGrp="1"/>
          </p:cNvSpPr>
          <p:nvPr/>
        </p:nvSpPr>
        <p:spPr>
          <a:xfrm>
            <a:off x="6849349" y="2421636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275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Custom cookbook</a:t>
            </a: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9E40928D-4CEA-4859-8C0F-FD4E3815B2C4}"/>
              </a:ext>
            </a:extLst>
          </p:cNvPr>
          <p:cNvSpPr>
            <a:spLocks noGrp="1"/>
          </p:cNvSpPr>
          <p:nvPr/>
        </p:nvSpPr>
        <p:spPr>
          <a:xfrm>
            <a:off x="6331570" y="2791587"/>
            <a:ext cx="2038350" cy="8206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9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1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Favorites, imported recipes, personal recipes, and custom courses are managed together.</a:t>
            </a:r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5F1CA387-E8AD-8C79-F75D-67C9D999B260}"/>
              </a:ext>
            </a:extLst>
          </p:cNvPr>
          <p:cNvSpPr>
            <a:spLocks noGrp="1"/>
          </p:cNvSpPr>
          <p:nvPr/>
        </p:nvSpPr>
        <p:spPr>
          <a:xfrm>
            <a:off x="3552824" y="1552575"/>
            <a:ext cx="697151" cy="266700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72665803-64C3-5E7B-6F8C-AA74526D7BE9}"/>
              </a:ext>
            </a:extLst>
          </p:cNvPr>
          <p:cNvSpPr>
            <a:spLocks noGrp="1"/>
          </p:cNvSpPr>
          <p:nvPr/>
        </p:nvSpPr>
        <p:spPr>
          <a:xfrm>
            <a:off x="3552824" y="1590675"/>
            <a:ext cx="697151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it-IT" sz="788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  <a:endParaRPr lang="en-US" sz="788" b="1" i="0" noProof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F5C3A7C8-09CC-9D47-75D3-F0C45DF00230}"/>
              </a:ext>
            </a:extLst>
          </p:cNvPr>
          <p:cNvSpPr>
            <a:spLocks noGrp="1"/>
          </p:cNvSpPr>
          <p:nvPr/>
        </p:nvSpPr>
        <p:spPr>
          <a:xfrm>
            <a:off x="4249975" y="1530476"/>
            <a:ext cx="125872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275" b="1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Export PDF</a:t>
            </a:r>
            <a:endParaRPr lang="en-US" sz="1275" b="1" i="0" noProof="0" dirty="0">
              <a:solidFill>
                <a:srgbClr val="172033"/>
              </a:solidFill>
              <a:latin typeface="Georgia"/>
              <a:ea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778950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ttangolo 41">
            <a:extLst>
              <a:ext uri="{FF2B5EF4-FFF2-40B4-BE49-F238E27FC236}">
                <a16:creationId xmlns:a16="http://schemas.microsoft.com/office/drawing/2014/main" id="{958F1F85-7DCF-45D7-8A14-3E2B1C25BDA8}"/>
              </a:ext>
            </a:extLst>
          </p:cNvPr>
          <p:cNvSpPr>
            <a:spLocks noGrp="1"/>
          </p:cNvSpPr>
          <p:nvPr/>
        </p:nvSpPr>
        <p:spPr>
          <a:xfrm>
            <a:off x="428625" y="438150"/>
            <a:ext cx="38100" cy="400050"/>
          </a:xfrm>
          <a:prstGeom prst="rect">
            <a:avLst/>
          </a:prstGeom>
          <a:solidFill>
            <a:srgbClr val="E27B28"/>
          </a:solidFill>
          <a:ln w="0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CEACB72-702B-4763-AA11-D40746D14FE0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00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255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Gamification &amp; Rewards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1C8EDCE-AC5B-4DEF-A022-BBC1B9FFBB45}"/>
              </a:ext>
            </a:extLst>
          </p:cNvPr>
          <p:cNvSpPr>
            <a:spLocks noGrp="1"/>
          </p:cNvSpPr>
          <p:nvPr/>
        </p:nvSpPr>
        <p:spPr>
          <a:xfrm>
            <a:off x="595312" y="1028700"/>
            <a:ext cx="3762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Reward mechanics are tied to real user activity, not decorative badges.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2E0AF3C4-F87E-4FB5-9C2D-C7D84B845DB6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1762125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10126DB-14A9-4BB7-B631-ADB82BAA8AEA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7554D7D-EAA8-48E0-8464-51CCCA43F720}"/>
              </a:ext>
            </a:extLst>
          </p:cNvPr>
          <p:cNvSpPr>
            <a:spLocks noGrp="1"/>
          </p:cNvSpPr>
          <p:nvPr/>
        </p:nvSpPr>
        <p:spPr>
          <a:xfrm>
            <a:off x="742950" y="18859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+10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E23D097-BA52-48F3-A2FF-F90828C21498}"/>
              </a:ext>
            </a:extLst>
          </p:cNvPr>
          <p:cNvSpPr>
            <a:spLocks noGrp="1"/>
          </p:cNvSpPr>
          <p:nvPr/>
        </p:nvSpPr>
        <p:spPr>
          <a:xfrm>
            <a:off x="1278255" y="1838325"/>
            <a:ext cx="103441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275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Comment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0EB8D8E-66B7-4947-B93C-769534CD7751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14192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05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XP for contributing to recipe discussions.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EB5D8F3C-110A-4CFF-863F-98CD9F625D1C}"/>
              </a:ext>
            </a:extLst>
          </p:cNvPr>
          <p:cNvSpPr>
            <a:spLocks noGrp="1"/>
          </p:cNvSpPr>
          <p:nvPr/>
        </p:nvSpPr>
        <p:spPr>
          <a:xfrm>
            <a:off x="2476500" y="1676400"/>
            <a:ext cx="1762125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D64F010D-771F-4525-B75E-14DE47007BFA}"/>
              </a:ext>
            </a:extLst>
          </p:cNvPr>
          <p:cNvSpPr>
            <a:spLocks noGrp="1"/>
          </p:cNvSpPr>
          <p:nvPr/>
        </p:nvSpPr>
        <p:spPr>
          <a:xfrm>
            <a:off x="2647950" y="1847850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586A47"/>
          </a:solidFill>
          <a:ln w="9525">
            <a:solidFill>
              <a:srgbClr val="586A47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A05A255-59C3-4452-A99B-4195B67BBFBC}"/>
              </a:ext>
            </a:extLst>
          </p:cNvPr>
          <p:cNvSpPr>
            <a:spLocks noGrp="1"/>
          </p:cNvSpPr>
          <p:nvPr/>
        </p:nvSpPr>
        <p:spPr>
          <a:xfrm>
            <a:off x="2647950" y="18859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+20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2E1F3D3-878F-4240-A5FB-FC1FDEC742D3}"/>
              </a:ext>
            </a:extLst>
          </p:cNvPr>
          <p:cNvSpPr>
            <a:spLocks noGrp="1"/>
          </p:cNvSpPr>
          <p:nvPr/>
        </p:nvSpPr>
        <p:spPr>
          <a:xfrm>
            <a:off x="3181921" y="1833372"/>
            <a:ext cx="81800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275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Review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4B050420-C523-477E-9E11-D175683EC094}"/>
              </a:ext>
            </a:extLst>
          </p:cNvPr>
          <p:cNvSpPr>
            <a:spLocks noGrp="1"/>
          </p:cNvSpPr>
          <p:nvPr/>
        </p:nvSpPr>
        <p:spPr>
          <a:xfrm>
            <a:off x="2647950" y="2209800"/>
            <a:ext cx="14192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1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Deeper feedback updates recipe ratings.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7548326A-51E2-4572-840B-2A8AB9B17F8D}"/>
              </a:ext>
            </a:extLst>
          </p:cNvPr>
          <p:cNvSpPr>
            <a:spLocks noGrp="1"/>
          </p:cNvSpPr>
          <p:nvPr/>
        </p:nvSpPr>
        <p:spPr>
          <a:xfrm>
            <a:off x="571500" y="3086100"/>
            <a:ext cx="1762125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43FD7E09-BBE1-4E57-A19D-EA30A5A91ACE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586A47"/>
          </a:solidFill>
          <a:ln w="9525">
            <a:solidFill>
              <a:srgbClr val="586A47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6285263-B99E-436E-8FA2-5C455B7C81F8}"/>
              </a:ext>
            </a:extLst>
          </p:cNvPr>
          <p:cNvSpPr>
            <a:spLocks noGrp="1"/>
          </p:cNvSpPr>
          <p:nvPr/>
        </p:nvSpPr>
        <p:spPr>
          <a:xfrm>
            <a:off x="742950" y="32956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+50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F845C05-B5E8-48BD-AE45-E75EDF242482}"/>
              </a:ext>
            </a:extLst>
          </p:cNvPr>
          <p:cNvSpPr>
            <a:spLocks noGrp="1"/>
          </p:cNvSpPr>
          <p:nvPr/>
        </p:nvSpPr>
        <p:spPr>
          <a:xfrm>
            <a:off x="1278255" y="3238500"/>
            <a:ext cx="8839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275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Cooked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5CB92A89-EF60-4D55-A117-5D13783A2CFA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1419225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1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Cooked recipes increase count and XP.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45029A71-7A43-4FD9-A55D-6F8AC9304CF0}"/>
              </a:ext>
            </a:extLst>
          </p:cNvPr>
          <p:cNvSpPr>
            <a:spLocks noGrp="1"/>
          </p:cNvSpPr>
          <p:nvPr/>
        </p:nvSpPr>
        <p:spPr>
          <a:xfrm>
            <a:off x="2476500" y="3086100"/>
            <a:ext cx="1762125" cy="12573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ECFBB6BF-76FC-477D-8087-40957DF2917C}"/>
              </a:ext>
            </a:extLst>
          </p:cNvPr>
          <p:cNvSpPr>
            <a:spLocks noGrp="1"/>
          </p:cNvSpPr>
          <p:nvPr/>
        </p:nvSpPr>
        <p:spPr>
          <a:xfrm>
            <a:off x="2647950" y="3257550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BB45D516-9691-4B85-88F5-F1B7A67EA044}"/>
              </a:ext>
            </a:extLst>
          </p:cNvPr>
          <p:cNvSpPr>
            <a:spLocks noGrp="1"/>
          </p:cNvSpPr>
          <p:nvPr/>
        </p:nvSpPr>
        <p:spPr>
          <a:xfrm>
            <a:off x="2647950" y="32956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Rank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0D4D9D8B-4F93-49AE-B39D-193B74A485A2}"/>
              </a:ext>
            </a:extLst>
          </p:cNvPr>
          <p:cNvSpPr>
            <a:spLocks noGrp="1"/>
          </p:cNvSpPr>
          <p:nvPr/>
        </p:nvSpPr>
        <p:spPr>
          <a:xfrm>
            <a:off x="3186398" y="3243072"/>
            <a:ext cx="88525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275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Identity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F23E2EE0-DBFD-49EB-A7D5-41B77EEB7E81}"/>
              </a:ext>
            </a:extLst>
          </p:cNvPr>
          <p:cNvSpPr>
            <a:spLocks noGrp="1"/>
          </p:cNvSpPr>
          <p:nvPr/>
        </p:nvSpPr>
        <p:spPr>
          <a:xfrm>
            <a:off x="2647950" y="3619500"/>
            <a:ext cx="14192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1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Levels unlock roles and profile frames.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A0E7CC6C-F456-4056-AE39-C49C3E126BA3}"/>
              </a:ext>
            </a:extLst>
          </p:cNvPr>
          <p:cNvSpPr>
            <a:spLocks noGrp="1"/>
          </p:cNvSpPr>
          <p:nvPr/>
        </p:nvSpPr>
        <p:spPr>
          <a:xfrm>
            <a:off x="4667250" y="1143000"/>
            <a:ext cx="3905250" cy="3429000"/>
          </a:xfrm>
          <a:prstGeom prst="roundRect">
            <a:avLst>
              <a:gd name="adj" fmla="val 3333"/>
            </a:avLst>
          </a:prstGeom>
          <a:solidFill>
            <a:srgbClr val="EEF2E6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03224C6E-01CB-41AA-8A8D-E797E794094F}"/>
              </a:ext>
            </a:extLst>
          </p:cNvPr>
          <p:cNvSpPr>
            <a:spLocks noGrp="1"/>
          </p:cNvSpPr>
          <p:nvPr/>
        </p:nvSpPr>
        <p:spPr>
          <a:xfrm>
            <a:off x="4953000" y="14287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875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Engagement loop</a:t>
            </a: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61693EB0-1B98-4266-A582-462C2E28E8AC}"/>
              </a:ext>
            </a:extLst>
          </p:cNvPr>
          <p:cNvSpPr>
            <a:spLocks noGrp="1"/>
          </p:cNvSpPr>
          <p:nvPr/>
        </p:nvSpPr>
        <p:spPr>
          <a:xfrm>
            <a:off x="5686425" y="2247900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27557FB1-E35F-4504-B3D0-85608BD47680}"/>
              </a:ext>
            </a:extLst>
          </p:cNvPr>
          <p:cNvSpPr>
            <a:spLocks noGrp="1"/>
          </p:cNvSpPr>
          <p:nvPr/>
        </p:nvSpPr>
        <p:spPr>
          <a:xfrm>
            <a:off x="5686425" y="228600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EB298E2E-0CE1-4049-AFB7-943484412206}"/>
              </a:ext>
            </a:extLst>
          </p:cNvPr>
          <p:cNvSpPr>
            <a:spLocks noGrp="1"/>
          </p:cNvSpPr>
          <p:nvPr/>
        </p:nvSpPr>
        <p:spPr>
          <a:xfrm>
            <a:off x="5495925" y="2647950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100" b="1" i="0" noProof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Create</a:t>
            </a:r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18A6C182-C38D-4D50-BE11-117613B133A1}"/>
              </a:ext>
            </a:extLst>
          </p:cNvPr>
          <p:cNvSpPr>
            <a:spLocks noGrp="1"/>
          </p:cNvSpPr>
          <p:nvPr/>
        </p:nvSpPr>
        <p:spPr>
          <a:xfrm>
            <a:off x="7019925" y="2247900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586A47"/>
          </a:solidFill>
          <a:ln w="9525">
            <a:solidFill>
              <a:srgbClr val="586A47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7D710798-1094-496C-A1E4-D42B00B515E9}"/>
              </a:ext>
            </a:extLst>
          </p:cNvPr>
          <p:cNvSpPr>
            <a:spLocks noGrp="1"/>
          </p:cNvSpPr>
          <p:nvPr/>
        </p:nvSpPr>
        <p:spPr>
          <a:xfrm>
            <a:off x="7019925" y="228600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EBE24CDB-23C8-49EB-B28E-024324D82560}"/>
              </a:ext>
            </a:extLst>
          </p:cNvPr>
          <p:cNvSpPr>
            <a:spLocks noGrp="1"/>
          </p:cNvSpPr>
          <p:nvPr/>
        </p:nvSpPr>
        <p:spPr>
          <a:xfrm>
            <a:off x="6829425" y="2647950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100" b="1" i="0" noProof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Interact</a:t>
            </a: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ABC5A593-E658-45DA-90FE-19B4C94385AB}"/>
              </a:ext>
            </a:extLst>
          </p:cNvPr>
          <p:cNvSpPr>
            <a:spLocks noGrp="1"/>
          </p:cNvSpPr>
          <p:nvPr/>
        </p:nvSpPr>
        <p:spPr>
          <a:xfrm>
            <a:off x="7019925" y="3390900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E2F0C624-A220-4823-BD22-063A106FA9E9}"/>
              </a:ext>
            </a:extLst>
          </p:cNvPr>
          <p:cNvSpPr>
            <a:spLocks noGrp="1"/>
          </p:cNvSpPr>
          <p:nvPr/>
        </p:nvSpPr>
        <p:spPr>
          <a:xfrm>
            <a:off x="7019925" y="342900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0C4E3D72-2B75-401B-BAAB-E3908FB03B76}"/>
              </a:ext>
            </a:extLst>
          </p:cNvPr>
          <p:cNvSpPr>
            <a:spLocks noGrp="1"/>
          </p:cNvSpPr>
          <p:nvPr/>
        </p:nvSpPr>
        <p:spPr>
          <a:xfrm>
            <a:off x="6829425" y="3790950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100" b="1" i="0" noProof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Earn XP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5CFF0D44-27B8-4D1F-9886-90E0B4A5760B}"/>
              </a:ext>
            </a:extLst>
          </p:cNvPr>
          <p:cNvSpPr>
            <a:spLocks noGrp="1"/>
          </p:cNvSpPr>
          <p:nvPr/>
        </p:nvSpPr>
        <p:spPr>
          <a:xfrm>
            <a:off x="5686425" y="3390900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586A47"/>
          </a:solidFill>
          <a:ln w="9525">
            <a:solidFill>
              <a:srgbClr val="586A47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EEF9B09B-2F1D-49BB-8B8D-EB6DD9019F78}"/>
              </a:ext>
            </a:extLst>
          </p:cNvPr>
          <p:cNvSpPr>
            <a:spLocks noGrp="1"/>
          </p:cNvSpPr>
          <p:nvPr/>
        </p:nvSpPr>
        <p:spPr>
          <a:xfrm>
            <a:off x="5686425" y="342900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AAB5A8BB-8268-4110-A816-BFE7D170678D}"/>
              </a:ext>
            </a:extLst>
          </p:cNvPr>
          <p:cNvSpPr>
            <a:spLocks noGrp="1"/>
          </p:cNvSpPr>
          <p:nvPr/>
        </p:nvSpPr>
        <p:spPr>
          <a:xfrm>
            <a:off x="5495925" y="3790950"/>
            <a:ext cx="90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100" b="1" i="0" noProof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Unlock</a:t>
            </a:r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E4914FD6-DC14-427A-A5E4-474186894D41}"/>
              </a:ext>
            </a:extLst>
          </p:cNvPr>
          <p:cNvSpPr>
            <a:spLocks noGrp="1"/>
          </p:cNvSpPr>
          <p:nvPr/>
        </p:nvSpPr>
        <p:spPr>
          <a:xfrm>
            <a:off x="6562725" y="231457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E27B28"/>
                </a:solidFill>
                <a:latin typeface="Aptos"/>
                <a:ea typeface="Aptos"/>
                <a:cs typeface="Aptos"/>
              </a:defRPr>
            </a:pPr>
            <a:r>
              <a:rPr lang="en-US" sz="1650" b="1" i="0" noProof="0" dirty="0">
                <a:solidFill>
                  <a:srgbClr val="E27B2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85C52DEB-F152-4033-8A19-68DEB3C35682}"/>
              </a:ext>
            </a:extLst>
          </p:cNvPr>
          <p:cNvSpPr>
            <a:spLocks noGrp="1"/>
          </p:cNvSpPr>
          <p:nvPr/>
        </p:nvSpPr>
        <p:spPr>
          <a:xfrm>
            <a:off x="7305675" y="2895600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E27B28"/>
                </a:solidFill>
                <a:latin typeface="Aptos"/>
                <a:ea typeface="Aptos"/>
                <a:cs typeface="Aptos"/>
              </a:defRPr>
            </a:pPr>
            <a:r>
              <a:rPr lang="en-US" sz="1650" b="1" i="0" noProof="0" dirty="0">
                <a:solidFill>
                  <a:srgbClr val="E27B28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86FBE369-132F-4D8F-B3D7-0D7CA7856000}"/>
              </a:ext>
            </a:extLst>
          </p:cNvPr>
          <p:cNvSpPr>
            <a:spLocks noGrp="1"/>
          </p:cNvSpPr>
          <p:nvPr/>
        </p:nvSpPr>
        <p:spPr>
          <a:xfrm>
            <a:off x="6562725" y="3457575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E27B28"/>
                </a:solidFill>
                <a:latin typeface="Aptos"/>
                <a:ea typeface="Aptos"/>
                <a:cs typeface="Aptos"/>
              </a:defRPr>
            </a:pPr>
            <a:r>
              <a:rPr lang="en-US" sz="1650" b="1" i="0" noProof="0" dirty="0">
                <a:solidFill>
                  <a:srgbClr val="E27B28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176243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tangolo 26">
            <a:extLst>
              <a:ext uri="{FF2B5EF4-FFF2-40B4-BE49-F238E27FC236}">
                <a16:creationId xmlns:a16="http://schemas.microsoft.com/office/drawing/2014/main" id="{4D4EA2CF-E3E6-42BA-A112-F9BA0B8E548E}"/>
              </a:ext>
            </a:extLst>
          </p:cNvPr>
          <p:cNvSpPr>
            <a:spLocks noGrp="1"/>
          </p:cNvSpPr>
          <p:nvPr/>
        </p:nvSpPr>
        <p:spPr>
          <a:xfrm>
            <a:off x="428625" y="438150"/>
            <a:ext cx="38100" cy="400050"/>
          </a:xfrm>
          <a:prstGeom prst="rect">
            <a:avLst/>
          </a:prstGeom>
          <a:solidFill>
            <a:srgbClr val="E27B28"/>
          </a:solidFill>
          <a:ln w="0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E8AEC19-7243-4194-B0B2-F82D5DF0A7D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00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255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AI Assistant &amp; Social Import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12EB03B-1568-430A-8602-11EE8AE043AF}"/>
              </a:ext>
            </a:extLst>
          </p:cNvPr>
          <p:cNvSpPr>
            <a:spLocks noGrp="1"/>
          </p:cNvSpPr>
          <p:nvPr/>
        </p:nvSpPr>
        <p:spPr>
          <a:xfrm>
            <a:off x="666750" y="1104899"/>
            <a:ext cx="4000500" cy="4562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Two AI workflows make Tastify smarter while staying connected to real app data.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43DFAF55-2FA7-419F-B2ED-4DF10E6D216E}"/>
              </a:ext>
            </a:extLst>
          </p:cNvPr>
          <p:cNvSpPr>
            <a:spLocks noGrp="1"/>
          </p:cNvSpPr>
          <p:nvPr/>
        </p:nvSpPr>
        <p:spPr>
          <a:xfrm>
            <a:off x="547688" y="1733550"/>
            <a:ext cx="4095750" cy="1424568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B5F64F9-1BA2-442A-A720-532C8EB0FDED}"/>
              </a:ext>
            </a:extLst>
          </p:cNvPr>
          <p:cNvSpPr>
            <a:spLocks noGrp="1"/>
          </p:cNvSpPr>
          <p:nvPr/>
        </p:nvSpPr>
        <p:spPr>
          <a:xfrm>
            <a:off x="719138" y="1905000"/>
            <a:ext cx="514350" cy="266700"/>
          </a:xfrm>
          <a:prstGeom prst="roundRect">
            <a:avLst>
              <a:gd name="adj" fmla="val 50000"/>
            </a:avLst>
          </a:prstGeom>
          <a:solidFill>
            <a:srgbClr val="586A47"/>
          </a:solidFill>
          <a:ln w="9525">
            <a:solidFill>
              <a:srgbClr val="586A47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8F42314-6559-4842-8C3B-A708907E4D87}"/>
              </a:ext>
            </a:extLst>
          </p:cNvPr>
          <p:cNvSpPr>
            <a:spLocks noGrp="1"/>
          </p:cNvSpPr>
          <p:nvPr/>
        </p:nvSpPr>
        <p:spPr>
          <a:xfrm>
            <a:off x="719138" y="194310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Chat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66A7A08-1865-4750-98BE-1A887CF80286}"/>
              </a:ext>
            </a:extLst>
          </p:cNvPr>
          <p:cNvSpPr>
            <a:spLocks noGrp="1"/>
          </p:cNvSpPr>
          <p:nvPr/>
        </p:nvSpPr>
        <p:spPr>
          <a:xfrm>
            <a:off x="1583473" y="1895475"/>
            <a:ext cx="288851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4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Gemini recipe assistant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ED56C76-50E2-4F8E-8965-C945C0B9EAA7}"/>
              </a:ext>
            </a:extLst>
          </p:cNvPr>
          <p:cNvSpPr>
            <a:spLocks noGrp="1"/>
          </p:cNvSpPr>
          <p:nvPr/>
        </p:nvSpPr>
        <p:spPr>
          <a:xfrm>
            <a:off x="719138" y="2391935"/>
            <a:ext cx="3752850" cy="6370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9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chatbot uses function calling to search app recipes and returns direct recipe links when matches exist.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9D19AD28-A978-438F-9FA5-97235311C14D}"/>
              </a:ext>
            </a:extLst>
          </p:cNvPr>
          <p:cNvSpPr>
            <a:spLocks noGrp="1"/>
          </p:cNvSpPr>
          <p:nvPr/>
        </p:nvSpPr>
        <p:spPr>
          <a:xfrm>
            <a:off x="547688" y="3337932"/>
            <a:ext cx="4095750" cy="1424568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7003E392-23CA-4D47-88AF-EC59552A80E1}"/>
              </a:ext>
            </a:extLst>
          </p:cNvPr>
          <p:cNvSpPr>
            <a:spLocks noGrp="1"/>
          </p:cNvSpPr>
          <p:nvPr/>
        </p:nvSpPr>
        <p:spPr>
          <a:xfrm>
            <a:off x="719138" y="3509382"/>
            <a:ext cx="647700" cy="266700"/>
          </a:xfrm>
          <a:prstGeom prst="roundRect">
            <a:avLst>
              <a:gd name="adj" fmla="val 50000"/>
            </a:avLst>
          </a:prstGeom>
          <a:solidFill>
            <a:srgbClr val="E27B28"/>
          </a:solidFill>
          <a:ln w="9525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031D8D0-56F1-4859-8562-EF1DE0A0AD53}"/>
              </a:ext>
            </a:extLst>
          </p:cNvPr>
          <p:cNvSpPr>
            <a:spLocks noGrp="1"/>
          </p:cNvSpPr>
          <p:nvPr/>
        </p:nvSpPr>
        <p:spPr>
          <a:xfrm>
            <a:off x="719138" y="3547482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788" b="1" i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Import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ADD8126-4A1A-49CF-A255-F0ED145489C8}"/>
              </a:ext>
            </a:extLst>
          </p:cNvPr>
          <p:cNvSpPr>
            <a:spLocks noGrp="1"/>
          </p:cNvSpPr>
          <p:nvPr/>
        </p:nvSpPr>
        <p:spPr>
          <a:xfrm>
            <a:off x="1583473" y="3509382"/>
            <a:ext cx="2888515" cy="2625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4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Social and URL extraction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4BFD9816-72A9-413D-A839-576176350642}"/>
              </a:ext>
            </a:extLst>
          </p:cNvPr>
          <p:cNvSpPr>
            <a:spLocks noGrp="1"/>
          </p:cNvSpPr>
          <p:nvPr/>
        </p:nvSpPr>
        <p:spPr>
          <a:xfrm>
            <a:off x="719138" y="3939168"/>
            <a:ext cx="3752850" cy="6997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73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Recipe drafts are extracted from JSON-LD, Microdata, </a:t>
            </a:r>
            <a:r>
              <a:rPr lang="en-US" sz="1200" b="0" i="0" noProof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OpenGraph</a:t>
            </a: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, TikTok o Embed, and </a:t>
            </a:r>
            <a:r>
              <a:rPr lang="en-US" sz="1200" b="0" i="0" noProof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ScrapeCreators</a:t>
            </a: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captions.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B191AD9D-6390-4D19-907A-E73465DA9B25}"/>
              </a:ext>
            </a:extLst>
          </p:cNvPr>
          <p:cNvSpPr>
            <a:spLocks noGrp="1"/>
          </p:cNvSpPr>
          <p:nvPr/>
        </p:nvSpPr>
        <p:spPr>
          <a:xfrm>
            <a:off x="5143500" y="1143000"/>
            <a:ext cx="3619500" cy="361950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C9798D0-C61E-45B9-9497-6233D3C84FCD}"/>
              </a:ext>
            </a:extLst>
          </p:cNvPr>
          <p:cNvSpPr>
            <a:spLocks noGrp="1"/>
          </p:cNvSpPr>
          <p:nvPr/>
        </p:nvSpPr>
        <p:spPr>
          <a:xfrm>
            <a:off x="5429250" y="14287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180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Workflow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32836646-C1BF-4D2B-A41E-D7C5121072DA}"/>
              </a:ext>
            </a:extLst>
          </p:cNvPr>
          <p:cNvSpPr>
            <a:spLocks noGrp="1"/>
          </p:cNvSpPr>
          <p:nvPr/>
        </p:nvSpPr>
        <p:spPr>
          <a:xfrm>
            <a:off x="5581503" y="1906855"/>
            <a:ext cx="1185863" cy="733425"/>
          </a:xfrm>
          <a:prstGeom prst="roundRect">
            <a:avLst>
              <a:gd name="adj" fmla="val 20690"/>
            </a:avLst>
          </a:prstGeom>
          <a:solidFill>
            <a:srgbClr val="EEF2E6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BE6B5CC0-3029-4C9E-9799-8A5F883F7AAB}"/>
              </a:ext>
            </a:extLst>
          </p:cNvPr>
          <p:cNvSpPr>
            <a:spLocks noGrp="1"/>
          </p:cNvSpPr>
          <p:nvPr/>
        </p:nvSpPr>
        <p:spPr>
          <a:xfrm>
            <a:off x="5760243" y="2059257"/>
            <a:ext cx="809625" cy="4267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200" b="1" i="0" noProof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User input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E4D5C486-6F3C-4D2B-AC2A-F149A8021800}"/>
              </a:ext>
            </a:extLst>
          </p:cNvPr>
          <p:cNvSpPr>
            <a:spLocks noGrp="1"/>
          </p:cNvSpPr>
          <p:nvPr/>
        </p:nvSpPr>
        <p:spPr>
          <a:xfrm>
            <a:off x="7258050" y="1926605"/>
            <a:ext cx="1055687" cy="732727"/>
          </a:xfrm>
          <a:prstGeom prst="roundRect">
            <a:avLst>
              <a:gd name="adj" fmla="val 20690"/>
            </a:avLst>
          </a:prstGeom>
          <a:solidFill>
            <a:srgbClr val="FBE9D7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4DA161FC-402D-4CCD-A67D-A90C24688D7F}"/>
              </a:ext>
            </a:extLst>
          </p:cNvPr>
          <p:cNvSpPr>
            <a:spLocks noGrp="1"/>
          </p:cNvSpPr>
          <p:nvPr/>
        </p:nvSpPr>
        <p:spPr>
          <a:xfrm>
            <a:off x="7436643" y="2192607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200" b="1" i="0" noProof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234B2582-35C8-413B-83F7-DC9F5329E497}"/>
              </a:ext>
            </a:extLst>
          </p:cNvPr>
          <p:cNvSpPr>
            <a:spLocks noGrp="1"/>
          </p:cNvSpPr>
          <p:nvPr/>
        </p:nvSpPr>
        <p:spPr>
          <a:xfrm>
            <a:off x="7258050" y="3206440"/>
            <a:ext cx="1166812" cy="732727"/>
          </a:xfrm>
          <a:prstGeom prst="roundRect">
            <a:avLst>
              <a:gd name="adj" fmla="val 20690"/>
            </a:avLst>
          </a:prstGeom>
          <a:solidFill>
            <a:srgbClr val="EEF2E6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98793130-D129-44A3-B574-D832BDA89344}"/>
              </a:ext>
            </a:extLst>
          </p:cNvPr>
          <p:cNvSpPr>
            <a:spLocks noGrp="1"/>
          </p:cNvSpPr>
          <p:nvPr/>
        </p:nvSpPr>
        <p:spPr>
          <a:xfrm>
            <a:off x="7369175" y="3446471"/>
            <a:ext cx="944562" cy="2526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200" b="1" i="0" noProof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App data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6E9A728B-214D-49C3-942F-76CA72DCD2D4}"/>
              </a:ext>
            </a:extLst>
          </p:cNvPr>
          <p:cNvSpPr>
            <a:spLocks noGrp="1"/>
          </p:cNvSpPr>
          <p:nvPr/>
        </p:nvSpPr>
        <p:spPr>
          <a:xfrm>
            <a:off x="5579793" y="3206090"/>
            <a:ext cx="1166812" cy="733425"/>
          </a:xfrm>
          <a:prstGeom prst="roundRect">
            <a:avLst>
              <a:gd name="adj" fmla="val 20690"/>
            </a:avLst>
          </a:prstGeom>
          <a:solidFill>
            <a:srgbClr val="FBE9D7"/>
          </a:solidFill>
          <a:ln w="9525">
            <a:solidFill>
              <a:srgbClr val="E5E1D2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03A7BC02-67BA-4C2F-A6C9-3B7E91FCED46}"/>
              </a:ext>
            </a:extLst>
          </p:cNvPr>
          <p:cNvSpPr>
            <a:spLocks noGrp="1"/>
          </p:cNvSpPr>
          <p:nvPr/>
        </p:nvSpPr>
        <p:spPr>
          <a:xfrm>
            <a:off x="5666472" y="3355355"/>
            <a:ext cx="1015923" cy="4165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 i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lang="en-US" sz="1200" b="1" i="0" noProof="0" dirty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Recipe result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C867280A-C358-4717-83AB-DC24AE0FF738}"/>
              </a:ext>
            </a:extLst>
          </p:cNvPr>
          <p:cNvSpPr>
            <a:spLocks noGrp="1"/>
          </p:cNvSpPr>
          <p:nvPr/>
        </p:nvSpPr>
        <p:spPr>
          <a:xfrm>
            <a:off x="6787838" y="2190519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E27B28"/>
                </a:solidFill>
                <a:latin typeface="Aptos"/>
                <a:ea typeface="Aptos"/>
                <a:cs typeface="Aptos"/>
              </a:defRPr>
            </a:pPr>
            <a:r>
              <a:rPr lang="en-US" sz="1350" b="1" i="0" noProof="0" dirty="0">
                <a:solidFill>
                  <a:srgbClr val="E27B2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3448C822-0AC7-4532-B4F2-25938679F30F}"/>
              </a:ext>
            </a:extLst>
          </p:cNvPr>
          <p:cNvSpPr>
            <a:spLocks noGrp="1"/>
          </p:cNvSpPr>
          <p:nvPr/>
        </p:nvSpPr>
        <p:spPr>
          <a:xfrm>
            <a:off x="7736681" y="2743200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E27B28"/>
                </a:solidFill>
                <a:latin typeface="Aptos"/>
                <a:ea typeface="Aptos"/>
                <a:cs typeface="Aptos"/>
              </a:defRPr>
            </a:pPr>
            <a:r>
              <a:rPr lang="en-US" sz="1350" b="1" i="0" noProof="0" dirty="0">
                <a:solidFill>
                  <a:srgbClr val="E27B28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6AD5F6C3-9AE4-4368-AC58-49AE0A35C252}"/>
              </a:ext>
            </a:extLst>
          </p:cNvPr>
          <p:cNvSpPr>
            <a:spLocks noGrp="1"/>
          </p:cNvSpPr>
          <p:nvPr/>
        </p:nvSpPr>
        <p:spPr>
          <a:xfrm>
            <a:off x="6951392" y="3415293"/>
            <a:ext cx="209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E27B28"/>
                </a:solidFill>
                <a:latin typeface="Aptos"/>
                <a:ea typeface="Aptos"/>
                <a:cs typeface="Aptos"/>
              </a:defRPr>
            </a:pPr>
            <a:r>
              <a:rPr lang="en-US" sz="1350" b="1" i="0" noProof="0" dirty="0">
                <a:solidFill>
                  <a:srgbClr val="E27B28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207040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EA0867AA-37CC-4EFA-857E-80A5EDAD04DE}"/>
              </a:ext>
            </a:extLst>
          </p:cNvPr>
          <p:cNvSpPr>
            <a:spLocks noGrp="1"/>
          </p:cNvSpPr>
          <p:nvPr/>
        </p:nvSpPr>
        <p:spPr>
          <a:xfrm>
            <a:off x="1143000" y="1809750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 i="0">
                <a:solidFill>
                  <a:srgbClr val="172033"/>
                </a:solidFill>
                <a:latin typeface="Georgia"/>
                <a:ea typeface="Georgia"/>
                <a:cs typeface="Georgia"/>
              </a:defRPr>
            </a:pPr>
            <a:r>
              <a:rPr lang="en-US" sz="3150" b="1" i="0" noProof="0" dirty="0">
                <a:solidFill>
                  <a:srgbClr val="172033"/>
                </a:solidFill>
                <a:latin typeface="Georgia"/>
                <a:ea typeface="Georgia"/>
                <a:cs typeface="Georgia"/>
              </a:rPr>
              <a:t>Final Takeaways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D5007CB-FCCB-4A25-A6BD-263DE3943D8E}"/>
              </a:ext>
            </a:extLst>
          </p:cNvPr>
          <p:cNvSpPr>
            <a:spLocks noGrp="1"/>
          </p:cNvSpPr>
          <p:nvPr/>
        </p:nvSpPr>
        <p:spPr>
          <a:xfrm>
            <a:off x="1524000" y="2647950"/>
            <a:ext cx="609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63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200" b="0" i="0" noProof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Tastify is more than a recipe catalog: it combines personalized discovery, social interaction, AI support, planning, gamification, and analytics in one mobile experience.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21919AB8-5AD0-4152-89FE-FF673D6FC238}"/>
              </a:ext>
            </a:extLst>
          </p:cNvPr>
          <p:cNvSpPr>
            <a:spLocks noGrp="1"/>
          </p:cNvSpPr>
          <p:nvPr/>
        </p:nvSpPr>
        <p:spPr>
          <a:xfrm>
            <a:off x="3619500" y="3562350"/>
            <a:ext cx="1905000" cy="28575"/>
          </a:xfrm>
          <a:prstGeom prst="rect">
            <a:avLst/>
          </a:prstGeom>
          <a:solidFill>
            <a:srgbClr val="E27B28"/>
          </a:solidFill>
          <a:ln w="0">
            <a:solidFill>
              <a:srgbClr val="E27B2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82D284D-FC27-4C85-B10E-6987AD4773F2}"/>
              </a:ext>
            </a:extLst>
          </p:cNvPr>
          <p:cNvSpPr>
            <a:spLocks noGrp="1"/>
          </p:cNvSpPr>
          <p:nvPr/>
        </p:nvSpPr>
        <p:spPr>
          <a:xfrm>
            <a:off x="2476500" y="388620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E27B28"/>
                </a:solidFill>
                <a:latin typeface="Aptos"/>
                <a:ea typeface="Aptos"/>
                <a:cs typeface="Aptos"/>
              </a:defRPr>
            </a:pPr>
            <a:r>
              <a:rPr lang="en-US" sz="1200" b="1" i="0" noProof="0" dirty="0">
                <a:solidFill>
                  <a:srgbClr val="E27B28"/>
                </a:solidFill>
                <a:latin typeface="Aptos"/>
                <a:ea typeface="Aptos"/>
                <a:cs typeface="Aptos"/>
              </a:rPr>
              <a:t>Thank you for your attention. 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2676006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Microsoft Office PowerPoint</Application>
  <DocSecurity>0</DocSecurity>
  <PresentationFormat>Presentazione su schermo (16:9)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Aptos</vt:lpstr>
      <vt:lpstr>Calibri</vt:lpstr>
      <vt:lpstr>Georgia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Esposito  Jacopo</cp:lastModifiedBy>
  <cp:revision>4</cp:revision>
  <dcterms:created xsi:type="dcterms:W3CDTF">2026-06-19T14:30:32Z</dcterms:created>
  <dcterms:modified xsi:type="dcterms:W3CDTF">2026-06-22T09:08:39Z</dcterms:modified>
</cp:coreProperties>
</file>